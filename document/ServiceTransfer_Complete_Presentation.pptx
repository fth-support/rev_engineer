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23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7040880" y="-1188720"/>
            <a:ext cx="3291840" cy="3291840"/>
          </a:xfrm>
          <a:prstGeom prst="ellipse">
            <a:avLst/>
          </a:prstGeom>
          <a:solidFill>
            <a:srgbClr val="1259B8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-1097280" y="3566160"/>
            <a:ext cx="2834640" cy="2834640"/>
          </a:xfrm>
          <a:prstGeom prst="ellipse">
            <a:avLst/>
          </a:prstGeom>
          <a:solidFill>
            <a:srgbClr val="0B3E8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138160" y="3931920"/>
            <a:ext cx="1828800" cy="1828800"/>
          </a:xfrm>
          <a:prstGeom prst="ellipse">
            <a:avLst/>
          </a:prstGeom>
          <a:solidFill>
            <a:srgbClr val="1259B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93268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9EC3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REVAMP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7772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85800" y="2157984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CE9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ระบบซิงโครไนซ์ข้อมูล POS ระหว่างสาขาและสำนักงานใหญ่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FC9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Legacy System Analysis &amp; Revamp Recommendations  •  จากการวิเคราะห์ย้อนกลับซอร์สโค้ด (Reverse Engineering)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85800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85800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5.1810.1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679192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79192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PLATFORM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79192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Visual Basic 6.0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72584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672584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ORIGINAL DEVELOPER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72584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Adasoft Co., Ltd.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65976" y="3310128"/>
            <a:ext cx="1828800" cy="713232"/>
          </a:xfrm>
          <a:prstGeom prst="roundRect">
            <a:avLst>
              <a:gd name="adj" fmla="val 10256"/>
            </a:avLst>
          </a:prstGeom>
          <a:solidFill>
            <a:srgbClr val="0B3E8E"/>
          </a:solidFill>
          <a:ln w="12700">
            <a:solidFill>
              <a:srgbClr val="3D6FC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65976" y="338328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665976" y="3602736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June 12, 2026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85800" y="449884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จัดทำสำหรับทีมพัฒนาระบบใหม่ (System Revamp Team)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หัวข้อนำเสนอ (Agenda)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30936" y="15270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30936" y="15270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44168" y="1490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ภาพรวมระบบและบริบททางธุรกิจ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344168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 &amp; Business Context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7448" y="1325880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55464" y="1527048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55464" y="1527048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68696" y="1490472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สถาปัตยกรรมและโครงสร้างข้อมูล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568696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System Architecture &amp; Data Model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2496312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30936" y="269748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30936" y="2697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44168" y="26609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กระบวนการทำงานหลัก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44168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Flow • Tokenization • Member Points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27448" y="2496312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55464" y="2697480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55464" y="2697480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68696" y="2660904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การจัดการข้อผิดพลาด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568696" y="29992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Handling &amp; Recovery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666744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30936" y="38679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30936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44168" y="38313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ข้อจำกัดของระบบเดิม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44168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Legacy Constraints &amp; Risks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27448" y="3666744"/>
            <a:ext cx="4041648" cy="987552"/>
          </a:xfrm>
          <a:prstGeom prst="roundRect">
            <a:avLst>
              <a:gd name="adj" fmla="val 4630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55464" y="3867912"/>
            <a:ext cx="585216" cy="585216"/>
          </a:xfrm>
          <a:prstGeom prst="roundRect">
            <a:avLst>
              <a:gd name="adj" fmla="val 15625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55464" y="3867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568696" y="3831336"/>
            <a:ext cx="3108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ข้อเสนอแนะการปรับปรุง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568696" y="416966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 Architecture &amp; Roadmap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EXECUTIVE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คืออะไร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คือโปรแกรมเบื้องหลัง (Background Agent) บนเครื่อง POS ทุกเครื่องที่สาขา ทำหน้าที่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ซิงค์ธุรกรรมการขายขึ้น Central Server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 •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Tokenize ข้อมูลบัตร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ผ่าน SafeNet ก่อนข้อมูลออกจากสาขา  •  </a:t>
            </a:r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อัปเดตคะแนนสมาชิก</a:t>
            </a:r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ไปยัง Member DB โดยอัตโนมัติ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02920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500 ms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02920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รอบการทำงาน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2648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Timer Polling ตรวจข้อมูลใหม่ทุกครึ่งวินาที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24328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624328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24328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ตารางที่ซิงค์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34056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Sales / Deposit / Hold / Voucher / Points / Log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45736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3E5F5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45736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745736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55464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(POS) • Central (HQ) • Member DB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67144" y="2084832"/>
            <a:ext cx="1938528" cy="1481328"/>
          </a:xfrm>
          <a:prstGeom prst="roundRect">
            <a:avLst>
              <a:gd name="adj" fmla="val 493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67144" y="2212848"/>
            <a:ext cx="19385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2018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867144" y="2779776"/>
            <a:ext cx="193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โค้ดเวอร์ชันล่าสุด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76872" y="3054096"/>
            <a:ext cx="1719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— เทคโนโลยีสิ้นสุดการสนับสนุนแล้ว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02920" y="3822192"/>
            <a:ext cx="8138160" cy="841248"/>
          </a:xfrm>
          <a:prstGeom prst="roundRect">
            <a:avLst>
              <a:gd name="adj" fmla="val 543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85800" y="3931920"/>
            <a:ext cx="7772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 Revamp: 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หมดการสนับสนุน • ต่อฐานข้อมูลตรงข้าม WAN • ไม่มี Database Transaction • SQL แบบต่อสตริง (เสี่ยง Injection) • รหัสผ่านเก็บแบบกึ่ง Plain Text • Polling สิ้นเปลืองทรัพยากร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สถาปัตยกรรมระบบ (System Architecture)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200400" cy="3291840"/>
          </a:xfrm>
          <a:prstGeom prst="roundRect">
            <a:avLst>
              <a:gd name="adj" fmla="val 1714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5720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TERMINAL (Branch / สาขา)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58368" y="1755648"/>
            <a:ext cx="2798064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" y="1810512"/>
            <a:ext cx="2798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ServiceTransfer.exe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" y="2084832"/>
            <a:ext cx="2798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Agent • Timer 500 ms • Single Instance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2688336"/>
            <a:ext cx="1335024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" y="276148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Express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58368" y="301752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Local DB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ธุรกรรมรอซิงค์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FTStaSentOnOff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21408" y="2688336"/>
            <a:ext cx="1335024" cy="987552"/>
          </a:xfrm>
          <a:prstGeom prst="roundRect">
            <a:avLst>
              <a:gd name="adj" fmla="val 4630"/>
            </a:avLst>
          </a:prstGeom>
          <a:solidFill>
            <a:srgbClr val="FFFFFF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121408" y="2761488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21408" y="3017520"/>
            <a:ext cx="133502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AdaIni.Ada (Access)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Registry POSFront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LOG\*.Log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58368" y="3767328"/>
            <a:ext cx="27980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 Connection 3 ชุด: SF_SQLDB1 / SF_SQLDB2 / SM_SQLDB1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86400" y="1298448"/>
            <a:ext cx="3200400" cy="1828800"/>
          </a:xfrm>
          <a:prstGeom prst="roundRect">
            <a:avLst>
              <a:gd name="adj" fmla="val 3000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0" y="13898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SERVER (HQ / สำนักงานใหญ่)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87568" y="1755648"/>
            <a:ext cx="1335024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87568" y="18288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DB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87568" y="2084832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TPSTSal* TPSTDeposit*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TSysSync TSysConfig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50608" y="1755648"/>
            <a:ext cx="1335024" cy="1170432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0608" y="1828800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DB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0608" y="2084832"/>
            <a:ext cx="133502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TCNMMallCard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TPSTBPHis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0" y="3456432"/>
            <a:ext cx="3200400" cy="1133856"/>
          </a:xfrm>
          <a:prstGeom prst="roundRect">
            <a:avLst>
              <a:gd name="adj" fmla="val 4839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0" y="3529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SAFENET TOKENIZER (SOAP Web Service)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577840" y="3803904"/>
            <a:ext cx="30175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InsertToken( ) → Card No. → Token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GetValue( ) → Token → Card No.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Format: FIRST_SIX_TOKEN • Timeout 10,000 ms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49040" y="1920240"/>
            <a:ext cx="1645920" cy="292608"/>
          </a:xfrm>
          <a:prstGeom prst="rightArrow">
            <a:avLst/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75888" y="16276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SQLOLEDB.1 — INSERT / UPDATE ธุรกรรม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749040" y="2395728"/>
            <a:ext cx="1645920" cy="292608"/>
          </a:xfrm>
          <a:prstGeom prst="rightArrow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75888" y="270662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Points → TCNMMallCard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749040" y="3950208"/>
            <a:ext cx="1645920" cy="292608"/>
          </a:xfrm>
          <a:prstGeom prst="rightArrow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3675888" y="36576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SOAP / HTTP — Tokenize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CAPABILITIES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ความสามารถหลักของระบบ (Key Features)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2648" y="1490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12648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69848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ซิงค์อัตโนมัติเบื้องหลัง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69848" y="16642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Timer Polling ทุก 500 ms — ไม่รบกวนการขายหน้าร้าน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4727448" y="1298448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837176" y="149047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4837176" y="1490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94376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Offline เต็มรูปแบบ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94376" y="1664208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ขายต่อได้แม้ขาดการเชื่อมต่อ — ซิงค์ย้อนหลังอัตโนมัติ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12648" y="2386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2648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69848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Dynamic SQL ตามโครงสร้างจริง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9848" y="25603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INSERT/UPDATE จากทุกฟิลด์ใน Recordset ตาม Prefix (FT/FC/FN/FD)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4727448" y="2194560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4837176" y="238658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4837176" y="23865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94376" y="226771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ตั้งค่าได้โดยไม่แก้โค้ด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94376" y="2560320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กำหนดตาราง เงื่อนไข และลำดับซิงค์ผ่านตาราง TSysSync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502920" y="3090672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2648" y="32826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2648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9848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Tokenization ข้อมูลบัตร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69848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FTCstCardCode / FTSrcCardNo / FTScdCardID / FTSpoMemID ผ่าน SafeNet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4727448" y="3090672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3E5F5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837176" y="32826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837176" y="328269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94376" y="31638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คะแนนสมาชิกอัตโนมัติ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294376" y="3456432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คำนวณ +/− ตาม TransType → อัปเดต FCEarned / FCBalance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502920" y="3986784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12648" y="41788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12648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69848" y="4059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ตรวจจับข้อมูลซ้ำ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1069848" y="4352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Duplicate Key → เปลี่ยนเป็น UPDATE / DELETE-then-INSERT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4727448" y="3986784"/>
            <a:ext cx="4041648" cy="749808"/>
          </a:xfrm>
          <a:prstGeom prst="roundRect">
            <a:avLst>
              <a:gd name="adj" fmla="val 6098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4837176" y="41788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4837176" y="41788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294376" y="40599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ฟื้นตัวจากปัญหาเอง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294376" y="4352544"/>
            <a:ext cx="3383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Timeout → DBCC DBREINDEX แล้ว Retry • Connection Lost → รอบถัดไป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02 — DATA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โครงสร้างข้อมูลหลัก (Simplified ER)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2121408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221284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TPSTSalHD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487168"/>
            <a:ext cx="17373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หัวบิล (1 บิล = 1 แถว)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PK: Tmn+TransNo+Date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880360" y="133502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880360" y="13807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TPSTSalDT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880360" y="16367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รายการสินค้า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240280" y="2578608"/>
            <a:ext cx="640080" cy="-941832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880360" y="206654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80360" y="21122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TPSTSalRC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236829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การชำระเงิน + Tender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240280" y="2578608"/>
            <a:ext cx="640080" cy="-210312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880360" y="279806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880360" y="28437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TPSTSalCD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309981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บัตร/ส่วนลด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240280" y="2578608"/>
            <a:ext cx="640080" cy="521208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880360" y="3529584"/>
            <a:ext cx="1828800" cy="603504"/>
          </a:xfrm>
          <a:prstGeom prst="roundRect">
            <a:avLst>
              <a:gd name="adj" fmla="val 7576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880360" y="3575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TPSTSalePoint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38313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คะแนนต่อบิล (FTRemark)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240280" y="2578608"/>
            <a:ext cx="640080" cy="1252728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286000" y="2212848"/>
            <a:ext cx="548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8909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 : 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760720" y="1481328"/>
            <a:ext cx="1737360" cy="841248"/>
          </a:xfrm>
          <a:prstGeom prst="roundRect">
            <a:avLst>
              <a:gd name="adj" fmla="val 6522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760720" y="15544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TCNMMallCard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1828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BD9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บัตรสมาชิก (Member DB)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EBD9F5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FCEarned / FCBalance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760720" y="2615184"/>
            <a:ext cx="1737360" cy="603504"/>
          </a:xfrm>
          <a:prstGeom prst="roundRect">
            <a:avLst>
              <a:gd name="adj" fmla="val 7576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760720" y="266090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TPSTBPHis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760720" y="2916936"/>
            <a:ext cx="1737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ประวัติคะแนน (1 : N)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629400" y="2322576"/>
            <a:ext cx="0" cy="292608"/>
          </a:xfrm>
          <a:prstGeom prst="line">
            <a:avLst/>
          </a:prstGeom>
          <a:noFill/>
          <a:ln w="25400">
            <a:solidFill>
              <a:srgbClr val="6A1B9A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09160" y="3831336"/>
            <a:ext cx="91440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5623560" y="1901952"/>
            <a:ext cx="0" cy="1929384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623560" y="1901952"/>
            <a:ext cx="137160" cy="0"/>
          </a:xfrm>
          <a:prstGeom prst="line">
            <a:avLst/>
          </a:prstGeom>
          <a:noFill/>
          <a:ln w="254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736592" y="3547872"/>
            <a:ext cx="1463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Lookup (Token MemID)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726680" y="1481328"/>
            <a:ext cx="1234440" cy="1737360"/>
          </a:xfrm>
          <a:prstGeom prst="roundRect">
            <a:avLst>
              <a:gd name="adj" fmla="val 4444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26680" y="1572768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726680" y="21031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Mapping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Value ↔ Token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(Central + Member)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502920" y="4370832"/>
            <a:ext cx="845820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4443984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ตระกูลอื่นที่ใช้โครงสร้างเดียวกัน:  </a:t>
            </a:r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TPSTDepositHD/DT/RC/CD • TPSTHoldHD/DT/CD • TPSTVoucherHD/RC • TPSTCV • TPSHD/DT/RC/CD+TmnNum   |   Config: TSysSync • TSysConfig • TCNMStorePara • TCNMTerminalMtn • AdaIni.Ada</a:t>
            </a:r>
            <a:endParaRPr lang="en-US" sz="880" dirty="0"/>
          </a:p>
        </p:txBody>
      </p:sp>
      <p:sp>
        <p:nvSpPr>
          <p:cNvPr id="41" name="Text 39"/>
          <p:cNvSpPr/>
          <p:nvPr/>
        </p:nvSpPr>
        <p:spPr>
          <a:xfrm>
            <a:off x="502920" y="1371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กลุ่มธุรกรรมการขาย (Local → Central)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760720" y="11704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กลุ่มสมาชิกและ Token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OTMFORM_TIMER( 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ขั้นตอนการซิงค์หลัก — ทำงานทุก 500 ms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6187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261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097280" y="126187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225296" y="1280160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Pre-check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ปิด Timer กันซ้อน • ตรวจ Registry SentSale / Online • ตรวจ Log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5216" y="1719072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0292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847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097280" y="1847088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225296" y="1865376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 &amp; Validate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W_DATbConnectOrChk (Online + Local) • W_GETbStoreOpen — ร้านปิด = ข้ามรอบ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" y="2304288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502920" y="2432304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2920" y="24323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097280" y="2432304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225296" y="2450592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Configuration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อ่านรายการตารางจาก TSysSync • Terminal Number • Operation Date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5216" y="2889504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01752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029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97280" y="3017520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225296" y="3035808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Loop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ทุกตาราง × ทุกเรคอร์ดที่ Flag '0' → INSERT (Token ก่อน) • ซ้ำ → UPDATE • สำเร็จ → Flag '1'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" y="3474720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02920" y="3602736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02920" y="36027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97280" y="3602736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225296" y="3621024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Points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W_UPDxUpdatePoint → SUM คะแนน → UPDATE/INSERT TCNMMallCard + ประวัติ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85216" y="4059936"/>
            <a:ext cx="292608" cy="128016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2920" y="4187952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78909C"/>
          </a:solidFill>
          <a:ln w="12700">
            <a:solidFill>
              <a:srgbClr val="78909C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" y="4187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1097280" y="4187952"/>
            <a:ext cx="5486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225296" y="4206240"/>
            <a:ext cx="52852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Cleanup  </a:t>
            </a:r>
            <a:pPr indent="0" marL="0"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Registry (Date/Time/StaOn) • Log 'End :' • เปิด Timer รอบถัดไป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261872"/>
            <a:ext cx="2148840" cy="3456432"/>
          </a:xfrm>
          <a:prstGeom prst="roundRect">
            <a:avLst>
              <a:gd name="adj" fmla="val 2553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812280" y="1371600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→ Strategy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931152" y="17190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-2147217873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Duplicate → ลอง UPDATE แทน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31152" y="222199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-2147467259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Connection Lost → จบรอบ รอรอบหน้า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931152" y="272491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-2147217871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Timeout → DBCC DBREINDEX แล้ว Retry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31152" y="322783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555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ลูกยังไม่ครบ → ยังไม่ส่ง HD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31152" y="373075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556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HD หายจาก Server → Reset ทั้งชุดเป็น '0'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31152" y="4233672"/>
            <a:ext cx="1920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557
</a:t>
            </a:r>
            <a:pPr indent="0" marL="0">
              <a:lnSpc>
                <a:spcPct val="105000"/>
              </a:lnSpc>
              <a:buNone/>
            </a:pPr>
            <a:r>
              <a:rPr lang="en-US" sz="8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ล้มเหลว → ข้าม + Reset Flag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DATA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ขั้นตอนการ Tokenize ข้อมูลบัตร (SP_PRCbToken)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66928" y="13441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1298448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Guard Clauses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011680" y="1298448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139696" y="132588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ปิด (Code 29 = N) หรือสั้นกว่า 7 / 14 ตัวอักษร → คืนค่าเดิม ไม่ Token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1042416" y="1865376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02920" y="2011680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66928" y="205740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96112" y="2011680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ค้น Token เดิม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2011680" y="2011680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E3F2FD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139696" y="2039112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TOP 1 FROM TPSTTokenLst WHERE FTValue = CardNo (ล่าสุดก่อน) — พบ → ใช้เลย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1042416" y="2578608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02920" y="2724912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66928" y="277063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2724912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เรียก SafeNet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2011680" y="2724912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39696" y="2752344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SP_CHKbWebservice สร้าง SOAP Client ใหม่ → InsertToken(NAE/DB Credentials, CardNo, FIRST_SIX_TOKEN, Luhn=0)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42416" y="3291840"/>
            <a:ext cx="292608" cy="146304"/>
          </a:xfrm>
          <a:prstGeom prst="downArrow">
            <a:avLst/>
          </a:prstGeom>
          <a:solidFill>
            <a:srgbClr val="B9C6D2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02920" y="3438144"/>
            <a:ext cx="1371600" cy="566928"/>
          </a:xfrm>
          <a:prstGeom prst="roundRect">
            <a:avLst>
              <a:gd name="adj" fmla="val 12903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66928" y="348386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96112" y="3438144"/>
            <a:ext cx="960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Mapping</a:t>
            </a:r>
            <a:endParaRPr lang="en-US" sz="960" dirty="0"/>
          </a:p>
        </p:txBody>
      </p:sp>
      <p:sp>
        <p:nvSpPr>
          <p:cNvPr id="26" name="Shape 24"/>
          <p:cNvSpPr/>
          <p:nvPr/>
        </p:nvSpPr>
        <p:spPr>
          <a:xfrm>
            <a:off x="2011680" y="3438144"/>
            <a:ext cx="4160520" cy="566928"/>
          </a:xfrm>
          <a:prstGeom prst="roundRect">
            <a:avLst>
              <a:gd name="adj" fmla="val 8065"/>
            </a:avLst>
          </a:prstGeom>
          <a:solidFill>
            <a:srgbClr val="E8F5E9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2139696" y="3465576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TPSTTokenLst: ระบุ Table/Field ต้นทาง + ธุรกรรมอ้างอิง — มีเดิม → UPDATE Token ใหม่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400800" y="1298448"/>
            <a:ext cx="2560320" cy="1371600"/>
          </a:xfrm>
          <a:prstGeom prst="roundRect">
            <a:avLst>
              <a:gd name="adj" fmla="val 4000"/>
            </a:avLst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0" y="14081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18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FIRST_SIX_TOKEN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10528" y="175564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E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4111 11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498080" y="175564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E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XX XXXX XXXX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2103120"/>
            <a:ext cx="23774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คงเลข 6 หลักแรกไว้  •  หลักที่เหลือถูกแทนด้วย Token</a:t>
            </a:r>
            <a:endParaRPr lang="en-US" sz="820" dirty="0"/>
          </a:p>
          <a:p>
            <a:pPr algn="ctr" indent="0" marL="0">
              <a:buNone/>
            </a:pPr>
            <a:r>
              <a:rPr lang="en-US" sz="820" dirty="0">
                <a:solidFill>
                  <a:srgbClr val="CFE0F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LuhnCheck = 0 (ไม่ตรวจสอบ)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400800" y="2834640"/>
            <a:ext cx="2560320" cy="1225296"/>
          </a:xfrm>
          <a:prstGeom prst="roundRect">
            <a:avLst>
              <a:gd name="adj" fmla="val 4478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00800" y="29260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เมื่อ Token ล้มเหลว (Error 557)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92240" y="3200400"/>
            <a:ext cx="237744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 INSERT เรคอร์ดขึ้น Server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บันทึก Log 'InsertToken not success'</a:t>
            </a:r>
            <a:endParaRPr lang="en-US" sz="860" dirty="0"/>
          </a:p>
          <a:p>
            <a:pPr algn="ctr" indent="0" marL="0">
              <a:buNone/>
            </a:pPr>
            <a:r>
              <a:rPr lang="en-US" sz="8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ถ้าเป็นตาราง HD → Reset ลูกทั้งหมดเป็น '0'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502920" y="4224528"/>
            <a:ext cx="8458200" cy="566928"/>
          </a:xfrm>
          <a:prstGeom prst="roundRect">
            <a:avLst>
              <a:gd name="adj" fmla="val 8065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0080" y="429768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De-Tokenize: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SP_PRCbDeToken ทำงานกลับทิศ — ค้น TPSTTokenLst ด้วย Token ก่อน ไม่พบจึงเรียก GetValue( ) ผ่าน Web Service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DATA PROTECTION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เงื่อนไขการ Token ตามตาราง × ฟิลด์ × ประเภทธุรกรรม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1920240"/>
                <a:gridCol w="25603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ตาราง (Table)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ฟิลด์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เงื่อนไขการ Token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Tender / Discount ที่เข้าข่าย</a:t>
                      </a:r>
                      <a:endParaRPr lang="en-US" sz="11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TPSTSalHD • TPSTDepositHD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FTCstCardCode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เสมอ (ALWAYS)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ทุกกรณี — รหัสบัตรลูกค้าบนหัวบิล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TPSTSalRC • TPSTDepositRC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FTSrcCardNo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 Tender ที่กำหนด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T002 บัตรเครดิต • T003 ผ่อนชำระ • T017 บัตร TC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TPSTSalCD • TPSTDepositCD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FTScdCardID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เฉพาะ Discount Type ที่กำหนด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FNDctNo = 11 • 12 • 15 • 28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TPSTSalePoint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FTSpoMemID</a:t>
                      </a:r>
                      <a:endParaRPr lang="en-US" sz="96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 เสมอ (ALWAYS)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6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รหัสสมาชิกทุกกรณี (รวมตอนส่ง Member DB)</a:t>
                      </a:r>
                      <a:endParaRPr lang="en-US" sz="96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3703320"/>
            <a:ext cx="8138160" cy="1005840"/>
          </a:xfrm>
          <a:prstGeom prst="roundRect">
            <a:avLst>
              <a:gd name="adj" fmla="val 454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3822192"/>
            <a:ext cx="77724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TransType ที่ได้รับการยกเว้น (ไม่ Token):  </a:t>
            </a:r>
            <a:pPr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01, 02, 05, 08, 09, 12, 14, 17, 18, 21, 24, 26–37, 40–50</a:t>
            </a:r>
            <a:pPr indent="0" marL="0">
              <a:lnSpc>
                <a:spcPct val="125000"/>
              </a:lnSpc>
              <a:buNone/>
            </a:pPr>
            <a:endParaRPr lang="en-US" sz="10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3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กลุ่มธุรกรรมระบบ (Open/Close/PickUp/IPV ฯลฯ) ที่ไม่มีข้อมูลบัตรจริง  •  TransType พิเศษ 07, 16, 19, 20 Token เฉพาะบางฟิลด์ตามเงื่อนไขในโค้ด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03 — MEMBER REWARDS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การประมวลผลคะแนนสมาชิก (W_UPDxUpdatePoint)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4360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9436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06424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ดึงธุรกรรมค้าง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06424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FTRemark='0' AND MemID &lt;&gt; ''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3154680" y="1554480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355848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47288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47288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959352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รวมคะแนน/สมาชิก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959352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SUM(FCSpoPoint) GROUP BY MemID, ExpDate</a:t>
            </a:r>
            <a:endParaRPr lang="en-US" sz="860" dirty="0"/>
          </a:p>
        </p:txBody>
      </p:sp>
      <p:sp>
        <p:nvSpPr>
          <p:cNvPr id="16" name="Shape 14"/>
          <p:cNvSpPr/>
          <p:nvPr/>
        </p:nvSpPr>
        <p:spPr>
          <a:xfrm>
            <a:off x="6007608" y="1554480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208776" y="1298448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6300216" y="1481328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00216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12280" y="1389888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รหัสสมาชิก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1700784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SP_PRCbToken + Mapping ลง Member DB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502920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594360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06424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เครื่องหมาย +/−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06424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ขาย = บวก • คืน/ยกเลิก/Redeem = ลบ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3154680" y="2523744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355848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447288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447288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3959352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/ INSERT บัตร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59352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 → บวกคะแนน • ไม่พบ → 'New Member'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6007608" y="2523744"/>
            <a:ext cx="201168" cy="292608"/>
          </a:xfrm>
          <a:prstGeom prst="rightArrow">
            <a:avLst/>
          </a:prstGeom>
          <a:solidFill>
            <a:srgbClr val="C9A6DD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208776" y="2267712"/>
            <a:ext cx="2651760" cy="804672"/>
          </a:xfrm>
          <a:prstGeom prst="roundRect">
            <a:avLst>
              <a:gd name="adj" fmla="val 5682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300216" y="2450592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300216" y="24505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812280" y="2359152"/>
            <a:ext cx="19751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ประวัติ + ปิดงาน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812280" y="2670048"/>
            <a:ext cx="197510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INSERT TPSTBPHis → FTRemark='1'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502920" y="3401568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64008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พบสมาชิกเดิม → UPDATE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40080" y="37856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FCEarned  = FCEarned + point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FCBalance = FCMcdTotalPoint + FCEarned + point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FTWhoUpd  = 'ServiceTranfer'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09160" y="3401568"/>
            <a:ext cx="4023360" cy="1335024"/>
          </a:xfrm>
          <a:prstGeom prst="roundRect">
            <a:avLst>
              <a:gd name="adj" fmla="val 4110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846320" y="34930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ไม่พบ → INSERT 'New Member'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785616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FTMcdStaAct = 'A'  •  FCEarned = FCBalance = point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FDMcdExpDate = วันสุดท้ายของเดือน (จาก YYMM)</a:t>
            </a:r>
            <a:endParaRPr lang="en-US" sz="93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3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ระหว่างทาง → Resume Next (ข้ามรายการ)</a:t>
            </a:r>
            <a:endParaRPr lang="en-US" sz="930" dirty="0"/>
          </a:p>
        </p:txBody>
      </p:sp>
      <p:sp>
        <p:nvSpPr>
          <p:cNvPr id="45" name="Text 43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04 — RESILIENCE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การจัดการข้อผิดพลาดและการฟื้นตัว (Error Handling)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2926080"/>
                <a:gridCol w="3886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Error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สาเหตุ (Cause)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กลยุทธ์ของระบบ (Strategy)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-2147217873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Duplicate Key — เรคอร์ดมีอยู่แล้วบน Server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เปลี่ยนเป็น UPDATE (W_DATbUpdateData) — ถือว่ารายการสำเร็จ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-2147467259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Connection Lost / Provider Error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ยุติรอบปัจจุบันทันที → เริ่มใหม่รอบหน้า (500 ms ถัดไป)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-2147217871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Command Timeout ฝั่ง Local DB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DBCC DBREINDEX (Fill 90) → SELECT WITH(NOLOCK) ปลดล็อก → Retry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C6282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91 / 3704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Connection Object เสีย / ถูกปิด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Set Nothing แล้วสร้าง Connection ใหม่ใน W_DATbConnectOrChk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555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ลูกของ HD ยังซิงค์ไม่ครบ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ยังไม่ส่ง HD — รอให้ DT/RC/CD/SalePoint เป็น '1' ครบก่อน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556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INSERT HD แล้วตรวจไม่พบบน Server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Reset ทั้งชุด (HD + ลูกทั้งหมด) เป็น '0' เพื่อซิงค์ใหม่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b="1" dirty="0">
                          <a:solidFill>
                            <a:srgbClr val="E651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557</a:t>
                      </a:r>
                      <a:endParaRPr lang="en-US" sz="94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Tokenize ไม่สำเร็จ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4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ข้ามเรคอร์ด + Log — HD จะ Reset ลูกเป็น '0' ด้วย</a:t>
                      </a:r>
                      <a:endParaRPr lang="en-US" sz="94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90288"/>
            <a:ext cx="8138160" cy="384048"/>
          </a:xfrm>
          <a:prstGeom prst="roundRect">
            <a:avLst>
              <a:gd name="adj" fmla="val 11905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4626864"/>
            <a:ext cx="7863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ความผิดพลาดหนึ่งรายการต้องไม่หยุดทั้งระบบ — ข้าม / Retry / รอรอบถัดไป และบันทึก Log ทุกกรณี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05 — WHY REVAMP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ข้อจำกัดและความเสี่ยงของระบบเดิม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FEBEE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12648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12648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 (Architecture)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020824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05256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Polling 500 ms — เปลือง CPU/IO แม้ไม่มีงาน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85800" y="2679192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5256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 DB ตรงข้าม WAN — ไม่มี API Layer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685800" y="3337560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05256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Database Transaction — เสี่ยงข้อมูลไม่ครบชุด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685800" y="3995928"/>
            <a:ext cx="128016" cy="128016"/>
          </a:xfrm>
          <a:prstGeom prst="ellipse">
            <a:avLst/>
          </a:prstGeom>
          <a:solidFill>
            <a:srgbClr val="C62828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5256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Single-threaded — ซิงค์ทีละเรคอร์ด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3355848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FF3E0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465576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3465576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ความปลอดภัย (Security)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538728" y="2020824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58184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 ต่อสตริง — ช่องโหว่ SQL Injection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3538728" y="2679192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58184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รหัสผ่าน DB กึ่ง Plain Text (AdaIni.Ada)</a:t>
            </a:r>
            <a:endParaRPr lang="en-US" sz="960" dirty="0"/>
          </a:p>
        </p:txBody>
      </p:sp>
      <p:sp>
        <p:nvSpPr>
          <p:cNvPr id="23" name="Shape 21"/>
          <p:cNvSpPr/>
          <p:nvPr/>
        </p:nvSpPr>
        <p:spPr>
          <a:xfrm>
            <a:off x="3538728" y="3337560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758184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TLS/SSL ระหว่างทาง</a:t>
            </a:r>
            <a:endParaRPr lang="en-US" sz="960" dirty="0"/>
          </a:p>
        </p:txBody>
      </p:sp>
      <p:sp>
        <p:nvSpPr>
          <p:cNvPr id="25" name="Shape 23"/>
          <p:cNvSpPr/>
          <p:nvPr/>
        </p:nvSpPr>
        <p:spPr>
          <a:xfrm>
            <a:off x="3538728" y="3995928"/>
            <a:ext cx="128016" cy="128016"/>
          </a:xfrm>
          <a:prstGeom prst="ellipse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758184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Credential เก็บเปิดเผยใน TSysConfig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208776" y="1298448"/>
            <a:ext cx="2670048" cy="3383280"/>
          </a:xfrm>
          <a:prstGeom prst="roundRect">
            <a:avLst>
              <a:gd name="adj" fmla="val 2055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6318504" y="1426464"/>
            <a:ext cx="2450592" cy="384048"/>
          </a:xfrm>
          <a:prstGeom prst="roundRect">
            <a:avLst>
              <a:gd name="adj" fmla="val 16667"/>
            </a:avLst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318504" y="1426464"/>
            <a:ext cx="245059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การดูแลรักษา (Maintainability)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391656" y="2020824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611112" y="1956816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VB6 หมดการสนับสนุน — หา Dev ยาก</a:t>
            </a:r>
            <a:endParaRPr lang="en-US" sz="960" dirty="0"/>
          </a:p>
        </p:txBody>
      </p:sp>
      <p:sp>
        <p:nvSpPr>
          <p:cNvPr id="32" name="Shape 30"/>
          <p:cNvSpPr/>
          <p:nvPr/>
        </p:nvSpPr>
        <p:spPr>
          <a:xfrm>
            <a:off x="6391656" y="2679192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611112" y="2615184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Unit Test / CI-CD — Build มือเท่านั้น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6391656" y="3337560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611112" y="3273552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Dead Code (Module1–3) ปนในโปรเจกต์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391656" y="3995928"/>
            <a:ext cx="128016" cy="128016"/>
          </a:xfrm>
          <a:prstGeom prst="ellipse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611112" y="3931920"/>
            <a:ext cx="2212848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6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Log ไม่ถูกลบ (Cleanup ถูก Comment Out)</a:t>
            </a:r>
            <a:endParaRPr lang="en-US" sz="960" dirty="0"/>
          </a:p>
        </p:txBody>
      </p:sp>
      <p:sp>
        <p:nvSpPr>
          <p:cNvPr id="38" name="Shape 36"/>
          <p:cNvSpPr/>
          <p:nvPr/>
        </p:nvSpPr>
        <p:spPr>
          <a:xfrm>
            <a:off x="502920" y="4736592"/>
            <a:ext cx="8138160" cy="292608"/>
          </a:xfrm>
          <a:prstGeom prst="roundRect">
            <a:avLst>
              <a:gd name="adj" fmla="val 15625"/>
            </a:avLst>
          </a:prstGeom>
          <a:solidFill>
            <a:srgbClr val="FFEBEE"/>
          </a:solidFill>
          <a:ln w="12700">
            <a:solidFill>
              <a:srgbClr val="E5A3A3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02920" y="4754880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6282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ความเสี่ยงเหล่านี้พบจริงในซอร์สโค้ด — ไม่ใช่การคาดการณ์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06 — RECOMMENDATION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สถาปัตยกรรมเป้าหมายที่แนะนำ (Target Architecture)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1828800" cy="1188720"/>
          </a:xfrm>
          <a:prstGeom prst="roundRect">
            <a:avLst>
              <a:gd name="adj" fmla="val 4615"/>
            </a:avLst>
          </a:prstGeom>
          <a:solidFill>
            <a:srgbClr val="E3F2FD"/>
          </a:solidFill>
          <a:ln w="12700">
            <a:solidFill>
              <a:srgbClr val="90B8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1920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47A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 Agent ใหม่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76072" y="2231136"/>
            <a:ext cx="16824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.NET Worker / Go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Event-driven (ไม่ Polling)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Offline Queue ในเครื่อง</a:t>
            </a:r>
            <a:endParaRPr lang="en-US" sz="840" dirty="0"/>
          </a:p>
        </p:txBody>
      </p:sp>
      <p:sp>
        <p:nvSpPr>
          <p:cNvPr id="8" name="Shape 6"/>
          <p:cNvSpPr/>
          <p:nvPr/>
        </p:nvSpPr>
        <p:spPr>
          <a:xfrm>
            <a:off x="2377440" y="2286000"/>
            <a:ext cx="502920" cy="292608"/>
          </a:xfrm>
          <a:prstGeom prst="rightArrow">
            <a:avLst/>
          </a:prstGeom>
          <a:solidFill>
            <a:srgbClr val="1565C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286000" y="201168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events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926080" y="18288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926080" y="1920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Message Queue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999232" y="2231136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RabbitMQ / Kafka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Retry + Dead-letter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ลำดับข้อความรับประกัน</a:t>
            </a:r>
            <a:endParaRPr lang="en-US" sz="840" dirty="0"/>
          </a:p>
        </p:txBody>
      </p:sp>
      <p:sp>
        <p:nvSpPr>
          <p:cNvPr id="13" name="Shape 11"/>
          <p:cNvSpPr/>
          <p:nvPr/>
        </p:nvSpPr>
        <p:spPr>
          <a:xfrm>
            <a:off x="4709160" y="2286000"/>
            <a:ext cx="502920" cy="292608"/>
          </a:xfrm>
          <a:prstGeom prst="rightArrow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572000" y="2011680"/>
            <a:ext cx="822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consume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257800" y="1828800"/>
            <a:ext cx="1737360" cy="1188720"/>
          </a:xfrm>
          <a:prstGeom prst="roundRect">
            <a:avLst>
              <a:gd name="adj" fmla="val 4615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257800" y="192024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330952" y="2231136"/>
            <a:ext cx="159105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/ gRPC (TLS)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Validation + Transaction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Idempotency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7406640" y="1298448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406640" y="1389888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Central DB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479792" y="1700784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BEGIN TRAN ครอบ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HD + Children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7406640" y="2286000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5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406640" y="2377440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Member DB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479792" y="2688336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คะแนนผ่าน Service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ไม่เขียนตรง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7406640" y="3273552"/>
            <a:ext cx="1554480" cy="868680"/>
          </a:xfrm>
          <a:prstGeom prst="roundRect">
            <a:avLst>
              <a:gd name="adj" fmla="val 6316"/>
            </a:avLst>
          </a:prstGeom>
          <a:solidFill>
            <a:srgbClr val="FFF3E0"/>
          </a:solidFill>
          <a:ln w="12700">
            <a:solidFill>
              <a:srgbClr val="E8B57E"/>
            </a:solidFill>
            <a:prstDash val="solid"/>
          </a:ln>
          <a:effectLst>
            <a:outerShdw sx="100000" sy="100000" kx="0" ky="0" algn="bl" rotWithShape="0" blurRad="76200" dist="25400" dir="5400000">
              <a:srgbClr val="9AA8B5">
                <a:alpha val="35000"/>
              </a:srgbClr>
            </a:outerShdw>
          </a:effectLst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406640" y="336499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6510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Token Service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479792" y="3675888"/>
            <a:ext cx="140817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HSM / Cloud KMS</a:t>
            </a:r>
            <a:endParaRPr lang="en-US" sz="840" dirty="0"/>
          </a:p>
          <a:p>
            <a:pPr algn="ctr" indent="0" marL="0">
              <a:buNone/>
            </a:pPr>
            <a:r>
              <a:rPr lang="en-US" sz="84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แทน SOAP เดิม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022592" y="1591056"/>
            <a:ext cx="365760" cy="292608"/>
          </a:xfrm>
          <a:prstGeom prst="rightArrow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022592" y="2578608"/>
            <a:ext cx="365760" cy="292608"/>
          </a:xfrm>
          <a:prstGeom prst="rightArrow">
            <a:avLst/>
          </a:prstGeom>
          <a:solidFill>
            <a:srgbClr val="78909C"/>
          </a:solidFill>
          <a:ln/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022592" y="3566160"/>
            <a:ext cx="365760" cy="292608"/>
          </a:xfrm>
          <a:prstGeom prst="rightArrow">
            <a:avLst/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2920" y="3657600"/>
            <a:ext cx="6675120" cy="1097280"/>
          </a:xfrm>
          <a:prstGeom prst="roundRect">
            <a:avLst>
              <a:gd name="adj" fmla="val 4167"/>
            </a:avLst>
          </a:prstGeom>
          <a:solidFill>
            <a:srgbClr val="F4F7FA"/>
          </a:solidFill>
          <a:ln w="12700">
            <a:solidFill>
              <a:srgbClr val="D5DEE8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85800" y="3749040"/>
            <a:ext cx="6309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หลักการออกแบบ (Design Principles)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5800" y="4023360"/>
            <a:ext cx="6309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Secrets ใน Vault (ไม่อยู่ในไฟล์)  •  Parameterized Query ทั้งหมด  •  Structured Logging + Metrics + Health Check  •  Unit / Integration Tests ครอบ Business Rules  •  Deploy เป็น Container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06 —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ลำดับความสำคัญในการปรับปรุง (Prioritized Roadmap)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98448"/>
          <a:ext cx="813816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03120"/>
                <a:gridCol w="411480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#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รายละเอียด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ความสำคัญ</a:t>
                      </a:r>
                      <a:endParaRPr lang="en-US" sz="10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เปลี่ยนเทคโนโลยี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.NET Worker Service / Go — รองรับ CI/CD และทีมปัจจุบัน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Event-driven + Queue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RabbitMQ / Kafka แทน Polling 500 ms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 Gateway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REST/gRPC แทนการต่อ DB ตรงข้าม WAN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Database Transaction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BEGIN TRAN ครอบ HD + Children — แทนกฎ 555/556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Parameterized SQL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ปิดช่องโหว่ SQL Injection ทั้งหมด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C62828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Critical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6–8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Security ชุดใหญ่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TLS ทุก Connection • Secrets Vault • Tokenization แบบ HSM/KMS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E65100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High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9–12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b="1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Operations ชุดใหญ่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20" dirty="0">
                          <a:solidFill>
                            <a:srgbClr val="1A2733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Observability • Automated Tests • Container • Config Service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20" b="1" dirty="0">
                          <a:solidFill>
                            <a:srgbClr val="2E7D32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Medium</a:t>
                      </a:r>
                      <a:endParaRPr lang="en-US" sz="92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45720" marR="45720" marT="45720" marB="4572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4572000"/>
            <a:ext cx="8138160" cy="402336"/>
          </a:xfrm>
          <a:prstGeom prst="roundRect">
            <a:avLst>
              <a:gd name="adj" fmla="val 11364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4617720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แนวทางส่งมอบ:  </a:t>
            </a:r>
            <a:pPr indent="0" marL="0">
              <a:buNone/>
            </a:pPr>
            <a:r>
              <a:rPr lang="en-US" sz="100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 Critical (1–5) ให้จบเป็น Phase 1 เพื่อทดแทนระบบเดิมได้อย่างปลอดภัย แล้วต่อยอด High/Medium ใน Phase 2–3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565C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สรุปและก้าวต่อไป (Summary &amp; Next Steps)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000000"/>
                </a:solidFill>
              </a:rPr>
              <a:t> </a:t>
            </a:r>
            <a:endParaRPr lang="en-US" sz="1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1792" y="154533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21792" y="1545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417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เข้าใจระบบเดิมครบถ้วน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170992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ตรรกะทุกฟังก์ชันถูกถอดเป็นเอกสาร 3 ฉบับ + แผนภาพ 5 ชุด — ทีมใหม่ไม่ต้องอ่าน VB6 เอง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502920" y="228600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" y="25054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21792" y="25054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5568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Business Rules ถูกเก็บรักษา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67004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 555/556, เงื่อนไข Token, สูตรคะแนน FCEarned/FCBalance พร้อม Re-implement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4114800" cy="822960"/>
          </a:xfrm>
          <a:prstGeom prst="roundRect">
            <a:avLst>
              <a:gd name="adj" fmla="val 5556"/>
            </a:avLst>
          </a:prstGeom>
          <a:solidFill>
            <a:srgbClr val="E8F5E9"/>
          </a:solidFill>
          <a:ln w="12700">
            <a:solidFill>
              <a:srgbClr val="9CCD9F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21792" y="346557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E7D32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1792" y="34655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15568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ความเสี่ยงถูกระบุชัด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15568" y="3630168"/>
            <a:ext cx="3383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ครบทั้งสถาปัตยกรรม ความปลอดภัย และการดูแลรักษา — อ้างอิงจากโค้ดจริง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4892040" y="132588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1B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ขั้นตอนถัดไปที่แนะนำ (Next Steps)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1719072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001768" y="1847088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01768" y="18470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31536" y="1755648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 เอกสารร่วมกับทีม Dev + DBA — ยืนยัน Business Rules กับผู้ใช้งานจริง</a:t>
            </a:r>
            <a:endParaRPr lang="en-US" sz="920" dirty="0"/>
          </a:p>
        </p:txBody>
      </p:sp>
      <p:sp>
        <p:nvSpPr>
          <p:cNvPr id="25" name="Shape 23"/>
          <p:cNvSpPr/>
          <p:nvPr/>
        </p:nvSpPr>
        <p:spPr>
          <a:xfrm>
            <a:off x="4892040" y="2432304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5001768" y="2560320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001768" y="25603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31536" y="2468880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ตัดสินใจ Tech Stack (.NET / Go) และออกแบบ API Contract + Event Schema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4892040" y="3145536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5001768" y="3273552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01768" y="327355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31536" y="3182112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Proof of Concept: Sync 1 ตาราง (TPSTSalHD ครบชุด) ผ่านสถาปัตยกรรมใหม่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4892040" y="3858768"/>
            <a:ext cx="3749040" cy="585216"/>
          </a:xfrm>
          <a:prstGeom prst="roundRect">
            <a:avLst>
              <a:gd name="adj" fmla="val 7813"/>
            </a:avLst>
          </a:prstGeom>
          <a:solidFill>
            <a:srgbClr val="F3E5F5"/>
          </a:solidFill>
          <a:ln w="12700">
            <a:solidFill>
              <a:srgbClr val="C9A6DD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001768" y="3986784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001768" y="39867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31536" y="3895344"/>
            <a:ext cx="312724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20" dirty="0">
                <a:solidFill>
                  <a:srgbClr val="1A27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วางแผน Migration แบบคู่ขนาน (Run ระบบเก่า-ใหม่เทียบผลก่อนตัดระบบ)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8641080" y="4828032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47A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47A1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280160" y="-1463040"/>
            <a:ext cx="3657600" cy="3657600"/>
          </a:xfrm>
          <a:prstGeom prst="ellipse">
            <a:avLst/>
          </a:prstGeom>
          <a:solidFill>
            <a:srgbClr val="0B3E8E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0" y="3291840"/>
            <a:ext cx="3108960" cy="3108960"/>
          </a:xfrm>
          <a:prstGeom prst="ellipse">
            <a:avLst/>
          </a:prstGeom>
          <a:solidFill>
            <a:srgbClr val="1259B8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CE9F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คำถามและข้อเสนอแนะ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9E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เอกสารประกอบ:  01_SRS_Document.docx  •  02_Data_Dictionary.docx  •  03_Program_Specification.docx  •  Diagrams (HTML)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FB4E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ServiceTransfer v5.1810.1 — System Revamp Documentation  •  Reverse Engineering Analysis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100" b="1">
                <a:solidFill>
                  <a:srgbClr val="1565C0"/>
                </a:solidFill>
                <a:latin typeface="Tahoma"/>
              </a:rPr>
              <a:t>UPSTREAM PRODUCER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30352"/>
            <a:ext cx="822960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500" b="1">
                <a:solidFill>
                  <a:srgbClr val="1A2733"/>
                </a:solidFill>
                <a:latin typeface="Tahoma"/>
              </a:rPr>
              <a:t>POSFront — โปรแกรมขายต้นทาง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70432"/>
            <a:ext cx="813816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0D47A1"/>
                </a:solidFill>
                <a:latin typeface="Tahoma"/>
              </a:rPr>
              <a:t>บนเครื่อง POS มีสองโปรแกรมทำงานร่วมกันแบบ Producer / Consumer ส่งต่อกันผ่าน Local DB ด้วยธงสถานะ 2 ตัว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83080"/>
            <a:ext cx="4041648" cy="178308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783080"/>
            <a:ext cx="82296" cy="17830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11095"/>
            <a:ext cx="3675887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A2733"/>
                </a:solidFill>
                <a:latin typeface="Tahoma"/>
              </a:rPr>
              <a:t>POSFront (Producer)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221991"/>
            <a:ext cx="3675887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1565C0"/>
                </a:solidFill>
                <a:latin typeface="Tahoma"/>
              </a:rPr>
              <a:t>โปรแกรมขายหน้าร้าน · VB6 v6.2412.1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53288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อ่าน Master จาก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4378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เขียนบิลลง TPSHD&lt;Tmn&gt; (StaDoc='2')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154679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จ่ายเงิน+พิมพ์ใบเสร็จ -&gt; StaDoc='1'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99432" y="1783080"/>
            <a:ext cx="4041648" cy="1783080"/>
          </a:xfrm>
          <a:prstGeom prst="roundRect">
            <a:avLst/>
          </a:prstGeom>
          <a:solidFill>
            <a:srgbClr val="F3E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99432" y="1783080"/>
            <a:ext cx="82296" cy="1783080"/>
          </a:xfrm>
          <a:prstGeom prst="rect">
            <a:avLst/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1911095"/>
            <a:ext cx="3675887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1A2733"/>
                </a:solidFill>
                <a:latin typeface="Tahoma"/>
              </a:rPr>
              <a:t>ServiceTransfer (Consumer)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221991"/>
            <a:ext cx="3675887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6A1B9A"/>
                </a:solidFill>
                <a:latin typeface="Tahoma"/>
              </a:rPr>
              <a:t>เอเจนต์ซิงค์ · Timer 500ms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2532888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poll FTStaSentOnOff='0'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2843784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Tokenize -&gt; push ขึ้น Central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3154679"/>
            <a:ext cx="3657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•  set FTStaSentOnOff='1' (synced)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03320"/>
            <a:ext cx="8138160" cy="1078992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3803904"/>
            <a:ext cx="7772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50" b="1">
                <a:solidFill>
                  <a:srgbClr val="1A2733"/>
                </a:solidFill>
                <a:latin typeface="Tahoma"/>
              </a:rPr>
              <a:t>Orchestration:  POSFront.Sub Main เปิด ServiceOnOff · ServiceAutoReplicate · ServiceAutoClear · ServiceTranfer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133087"/>
            <a:ext cx="777240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5A6B7B"/>
                </a:solidFill>
                <a:latin typeface="Tahoma"/>
              </a:rPr>
              <a:t>Handshake:  FTShdStaDoc ('2'-&gt;'1') = POSFront  |  FTStaSentOnOff ('0'-&gt;'1') = ServiceTransfer  |  Trigger TRG_Tmp2Sale&lt;Tmn&gt; -&gt; STP_PRCxTmp2Sale ย้ายบิลเข้า TPSTSal*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0" y="5074920"/>
            <a:ext cx="274320" cy="914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" b="0">
                <a:solidFill>
                  <a:srgbClr val="FFFFFF"/>
                </a:solidFill>
                <a:latin typeface="Tahoma"/>
              </a:rPr>
              <a:t>​PF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ServiceTransfer — System Revamp</dc:title>
  <dc:subject>PptxGenJS Presentation</dc:subject>
  <dc:creator>System Revamp Team</dc:creator>
  <cp:lastModifiedBy>System Revamp Team</cp:lastModifiedBy>
  <cp:revision>1</cp:revision>
  <dcterms:created xsi:type="dcterms:W3CDTF">2026-06-12T16:40:59Z</dcterms:created>
  <dcterms:modified xsi:type="dcterms:W3CDTF">2026-06-12T16:40:59Z</dcterms:modified>
</cp:coreProperties>
</file>