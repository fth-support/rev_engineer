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rapatpong, Don" userId="f90dfe20-95e3-4b84-948b-a04c6abfd76a" providerId="ADAL" clId="{F8862A6C-EB8A-4628-9F04-91DA8E42D77E}"/>
    <pc:docChg chg="delSld">
      <pc:chgData name="Jirapatpong, Don" userId="f90dfe20-95e3-4b84-948b-a04c6abfd76a" providerId="ADAL" clId="{F8862A6C-EB8A-4628-9F04-91DA8E42D77E}" dt="2026-06-22T08:36:01.736" v="0" actId="47"/>
      <pc:docMkLst>
        <pc:docMk/>
      </pc:docMkLst>
      <pc:sldChg chg="del">
        <pc:chgData name="Jirapatpong, Don" userId="f90dfe20-95e3-4b84-948b-a04c6abfd76a" providerId="ADAL" clId="{F8862A6C-EB8A-4628-9F04-91DA8E42D77E}" dt="2026-06-22T08:36:01.736" v="0" actId="47"/>
        <pc:sldMkLst>
          <pc:docMk/>
          <pc:sldMk cId="0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735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Fujitsu New Self-Checkout for Foodland — a function specification. This deck is organized as function tables per screen, plus the integration, promotion and localization scope. We assume the SCO business case is already understood; the focus here is exactly what the system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deck is organized: a function map, then a function table for every screen — startup, scan, member &amp; coupon, payment, processing &amp; receipt, store-management admin, and edge cases — followed by the scope, promotions, integration, localization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map — the whole system at a glance: seven screens and the count of functions each provides, and who acts on them — shopper, staff or system. The following slides detail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flow — the end-to-end checkout as a process: start, scan, member and coupon, payment, processing, then receipt and pickup. Each step is labelled with who acts on it. Below, the exception sub-flows — weighed items, age approval, and payment retry — and the key controls that apply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 flow — the same sequence shown as the actual screens on the kiosk: Startup, Scan, Member, Pay, Receipt, in order, with the store-management menu reachable at any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STARTUP functions: touch or scan to start; one-touch Need Help that lights the red lane LED; a five-language selector with voice guidance; and speaker volume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PRODUCT functions: store-management entry, on-screen camera feed, item line with name/unit price/qty/line total, running item count, quantity plus-minus, delete, auto-grouping of repeats, help/language/volume, and item or whole-order cancel.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 SAFEGUARDS: an inactivity timeout that asks 'Are you still here?' with continue, and a confirmed cancel-order flow — yes restarts, no keeps the cart — configurable to shopper or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&amp; COUPON functions: member prompt on Pay; identify by phone/number, app QR or co-brand-card QR; scan member coupons; PDPA-masked display; and a skip path for guests.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functions: order summary with sale prices and every discount, then tender selection — credit/debit card, QR PromptPay/QRCS, Alipay, WeChat — all via the EDC, which prints the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PROCESSING &amp; RECEIPT functions: on-screen guidance mirroring the EDC, a clear processing state, fail-safe retry with no money taken, and three receipt options — none, printed ABB, or e-receipt to the landing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STORE-MANAGEMENT (ADMIN) functions: PIN login, reprint ABB, close shift, close program, out-of-service, closing report and about-SCO.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EDGE-CASE functions: weighed produce priced on the scale, age-restricted items requiring staff approval, unknown-barcode recovery, and one-touch call-staff.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of work across six modules — cart login, sale process, complete-sale, cart logout, print closing and payment — each mapped to a Fujitsu API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Payments and fiscal printing: EDC integration via BBL for card, QRCS/PromptPay, Alipay and WeChat, with the EDC slip and the Thai abbreviated tax invoice printed from the 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Integration: outbound master data, promotions, loyalty and coupon validation; inbound finalized transactions, EDC linkage, earn-point and fiscal printing.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Localized for Thailand and the Revenue Department: POS register/Tax ID, abbreviated tax invoice, closing report, EDC payment, full tax invoice and Sale VAT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High-level architecture — master data flows from the customer ERP on a scheduled sync to the HQ POS server, then real-time to the in-store POS server, through the POS API, down to the SCO. The SCO is treated as just one POS terminal on the store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SCO client to AWS API Gateway and the Fujitsu API engine, integrating with the loyalty app, POS and member servers — with a clear split of Fujitsu and customer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status matrix — for each capability, whether it is delivered by the SCO, the Fujitsu API, or controlled by operations and API-ready.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summary and next steps to a scoped pilot — agree functions in scope, integration points and acceptance, then build and validate.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svg"/><Relationship Id="rId18" Type="http://schemas.openxmlformats.org/officeDocument/2006/relationships/image" Target="../media/image28.svg"/><Relationship Id="rId3" Type="http://schemas.openxmlformats.org/officeDocument/2006/relationships/image" Target="../media/image13.pn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6.svg"/><Relationship Id="rId20" Type="http://schemas.openxmlformats.org/officeDocument/2006/relationships/image" Target="../media/image3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svg"/><Relationship Id="rId10" Type="http://schemas.openxmlformats.org/officeDocument/2006/relationships/image" Target="../media/image20.svg"/><Relationship Id="rId19" Type="http://schemas.openxmlformats.org/officeDocument/2006/relationships/image" Target="../media/image29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C2161A">
                  <a:alpha val="100000"/>
                </a:srgbClr>
              </a:gs>
              <a:gs pos="60000">
                <a:srgbClr val="9E1014">
                  <a:alpha val="100000"/>
                </a:srgbClr>
              </a:gs>
              <a:gs pos="100000">
                <a:srgbClr val="7A0F0C">
                  <a:alpha val="100000"/>
                </a:srgbClr>
              </a:gs>
            </a:gsLst>
            <a:path path="circle">
              <a:fillToRect l="72000" t="40000" r="28000" b="6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7750" y="2362944"/>
            <a:ext cx="1961108" cy="542925"/>
          </a:xfrm>
          <a:prstGeom prst="roundRect">
            <a:avLst>
              <a:gd name="adj" fmla="val 17544"/>
            </a:avLst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8250" y="2439144"/>
            <a:ext cx="165630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kern="0" spc="15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FUJITSU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3180308" y="2472482"/>
            <a:ext cx="24318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3518743" y="2301032"/>
            <a:ext cx="1414463" cy="666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243" y="2396282"/>
            <a:ext cx="1033462" cy="476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7750" y="3405932"/>
            <a:ext cx="9418320" cy="2602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6600" b="1" kern="0" spc="-75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New Self-Checkout Function Specification</a:t>
            </a:r>
            <a:endParaRPr lang="en-US" sz="6600" dirty="0"/>
          </a:p>
        </p:txBody>
      </p:sp>
      <p:sp>
        <p:nvSpPr>
          <p:cNvPr id="9" name="Text 6"/>
          <p:cNvSpPr/>
          <p:nvPr/>
        </p:nvSpPr>
        <p:spPr>
          <a:xfrm>
            <a:off x="1047750" y="6218188"/>
            <a:ext cx="902589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>
                    <a:alpha val="84000"/>
                  </a:srgbClr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ฟังก์ชันการทำงานราย screen, scope, การเชื่อมต่อ และการรองรับภาษีไทย — what the system does, screen by screen.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47750" y="7490668"/>
            <a:ext cx="2241203" cy="495300"/>
          </a:xfrm>
          <a:prstGeom prst="roundRect">
            <a:avLst>
              <a:gd name="adj" fmla="val 50000"/>
            </a:avLst>
          </a:prstGeom>
          <a:solidFill>
            <a:srgbClr val="F5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76350" y="7604968"/>
            <a:ext cx="18602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0F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422303" y="7490668"/>
            <a:ext cx="2721918" cy="4953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0903" y="7604968"/>
            <a:ext cx="23463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Scope &amp; integration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77570" y="7490668"/>
            <a:ext cx="2318296" cy="49530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06170" y="7604968"/>
            <a:ext cx="19372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Thai localization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3754100" y="2265015"/>
            <a:ext cx="3390900" cy="5756970"/>
          </a:xfrm>
          <a:prstGeom prst="roundRect">
            <a:avLst>
              <a:gd name="adj" fmla="val 9551"/>
            </a:avLst>
          </a:prstGeom>
          <a:solidFill>
            <a:srgbClr val="1A1310"/>
          </a:solidFill>
          <a:ln/>
          <a:effectLst>
            <a:outerShdw blurRad="857250" dist="47625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5550" y="2436465"/>
            <a:ext cx="3048000" cy="54140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CONTENTS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047750" y="1295400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this spec is organized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047750" y="2514600"/>
            <a:ext cx="590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790700" y="2514600"/>
            <a:ext cx="31026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map</a:t>
            </a:r>
            <a:endParaRPr lang="en-US" sz="2325" dirty="0"/>
          </a:p>
        </p:txBody>
      </p:sp>
      <p:sp>
        <p:nvSpPr>
          <p:cNvPr id="6" name="Text 4"/>
          <p:cNvSpPr/>
          <p:nvPr/>
        </p:nvSpPr>
        <p:spPr>
          <a:xfrm>
            <a:off x="1790700" y="2886075"/>
            <a:ext cx="310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&amp; its functions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77375" y="2514600"/>
            <a:ext cx="590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220325" y="2514600"/>
            <a:ext cx="606516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tables per screen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10220325" y="2886075"/>
            <a:ext cx="60651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→ scan → member → pay → receipt → admin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3381375"/>
            <a:ext cx="590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790700" y="3381375"/>
            <a:ext cx="395542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Scope of work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1790700" y="3752850"/>
            <a:ext cx="39554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Modules, payments &amp; fiscal printing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77375" y="3381375"/>
            <a:ext cx="590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04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220325" y="3381375"/>
            <a:ext cx="42409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Promotions &amp; integration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10220325" y="3752850"/>
            <a:ext cx="42409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promo types, in/outbound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4248150"/>
            <a:ext cx="590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05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790700" y="4248150"/>
            <a:ext cx="444884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Thailand localization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790700" y="4619625"/>
            <a:ext cx="444884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tax invoice, EDC, VAT, architecture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77375" y="4248150"/>
            <a:ext cx="590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06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220325" y="4248150"/>
            <a:ext cx="38535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3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status matrix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10220325" y="4619625"/>
            <a:ext cx="38535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 · API · operation-controlled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MAP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104900"/>
            <a:ext cx="1823085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Every screen, every function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857250" y="2038350"/>
            <a:ext cx="16573500" cy="5956846"/>
          </a:xfrm>
          <a:prstGeom prst="roundRect">
            <a:avLst>
              <a:gd name="adj" fmla="val 2558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6775" y="2047875"/>
            <a:ext cx="571500" cy="62865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7275" y="2200275"/>
            <a:ext cx="266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438275" y="2047875"/>
            <a:ext cx="2857500" cy="62865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28775" y="2200275"/>
            <a:ext cx="256222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· หน้าจอ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295775" y="2047875"/>
            <a:ext cx="10839450" cy="62865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6275" y="2200275"/>
            <a:ext cx="10783634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 functions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5135225" y="2047875"/>
            <a:ext cx="2286000" cy="62865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325725" y="2200275"/>
            <a:ext cx="1981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Primary actor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866775" y="3284190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7275" y="2819400"/>
            <a:ext cx="2667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438275" y="3284190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28775" y="2819400"/>
            <a:ext cx="256222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Startup · เริ่มต้น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295775" y="3284190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6275" y="2819400"/>
            <a:ext cx="1078363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Touch/scan to start · Need Help (LED) · Language ×5 + voice · Volume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135225" y="3284190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325725" y="2819400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459075" y="2867025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6775" y="3293715"/>
            <a:ext cx="571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6775" y="4145012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7275" y="3436590"/>
            <a:ext cx="2667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438275" y="3293715"/>
            <a:ext cx="2857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38275" y="414501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28775" y="3436590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product · สแกนสินค้า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295775" y="3293715"/>
            <a:ext cx="108394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95775" y="4145012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6275" y="3436590"/>
            <a:ext cx="10783634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Scan barcode/QR · line item &amp; price · qty +/− · delete · group · count · cancel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135225" y="3293715"/>
            <a:ext cx="22860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5135225" y="4145012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5325725" y="3441353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459075" y="3488978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66775" y="5005834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7275" y="4297412"/>
            <a:ext cx="2667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438275" y="5005834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28775" y="4297412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Member &amp; coupon · สมาชิก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4295775" y="5005834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86275" y="4297412"/>
            <a:ext cx="10783634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Phone / app QR / card QR · scan coupons · PDPA mask · skip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135225" y="5005834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5325725" y="4302175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5459075" y="4349800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66775" y="5015359"/>
            <a:ext cx="571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66775" y="5627787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57275" y="5158234"/>
            <a:ext cx="2667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438275" y="5015359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38275" y="5627787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628775" y="5158234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Payment · ชำระเงิน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4295775" y="5015359"/>
            <a:ext cx="1083945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95775" y="5627787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486275" y="5158234"/>
            <a:ext cx="1078363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Order summary &amp; discounts · card · QR PromptPay/QRCS · Alipay · WeChat (EDC)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135225" y="5015359"/>
            <a:ext cx="22860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135225" y="5627787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5325725" y="5162996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5459075" y="5210621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66775" y="6488609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57275" y="5780187"/>
            <a:ext cx="2667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438275" y="6488609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628775" y="5780187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Processing &amp; receipt · ใบเสร็จ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4295775" y="6488609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486275" y="5780187"/>
            <a:ext cx="10783634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guidance · retry · receipt none/print ABB/e-receipt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135225" y="6488609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5325725" y="5784949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5459075" y="5832574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866775" y="6498134"/>
            <a:ext cx="571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66775" y="7349430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1057275" y="6641009"/>
            <a:ext cx="2667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650" dirty="0"/>
          </a:p>
        </p:txBody>
      </p:sp>
      <p:sp>
        <p:nvSpPr>
          <p:cNvPr id="69" name="Shape 67"/>
          <p:cNvSpPr/>
          <p:nvPr/>
        </p:nvSpPr>
        <p:spPr>
          <a:xfrm>
            <a:off x="1438275" y="6498134"/>
            <a:ext cx="2857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438275" y="7349430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628775" y="6641009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Store management · เมนูพนักงาน</a:t>
            </a:r>
            <a:endParaRPr lang="en-US" sz="1650" dirty="0"/>
          </a:p>
        </p:txBody>
      </p:sp>
      <p:sp>
        <p:nvSpPr>
          <p:cNvPr id="72" name="Shape 70"/>
          <p:cNvSpPr/>
          <p:nvPr/>
        </p:nvSpPr>
        <p:spPr>
          <a:xfrm>
            <a:off x="4295775" y="6498134"/>
            <a:ext cx="108394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295775" y="7349430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486275" y="6641009"/>
            <a:ext cx="10783634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PIN login · reprint · close shift · close program · out of service · report</a:t>
            </a:r>
            <a:endParaRPr lang="en-US" sz="1650" dirty="0"/>
          </a:p>
        </p:txBody>
      </p:sp>
      <p:sp>
        <p:nvSpPr>
          <p:cNvPr id="75" name="Shape 73"/>
          <p:cNvSpPr/>
          <p:nvPr/>
        </p:nvSpPr>
        <p:spPr>
          <a:xfrm>
            <a:off x="15135225" y="6498134"/>
            <a:ext cx="22860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5135225" y="7349430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5325725" y="6645771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5459075" y="6693396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866775" y="7971383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057275" y="7501830"/>
            <a:ext cx="2667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650" dirty="0"/>
          </a:p>
        </p:txBody>
      </p:sp>
      <p:sp>
        <p:nvSpPr>
          <p:cNvPr id="81" name="Shape 79"/>
          <p:cNvSpPr/>
          <p:nvPr/>
        </p:nvSpPr>
        <p:spPr>
          <a:xfrm>
            <a:off x="1438275" y="7971383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1628775" y="7501830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Edge cases · กรณีพิเศษ</a:t>
            </a:r>
            <a:endParaRPr lang="en-US" sz="1650" dirty="0"/>
          </a:p>
        </p:txBody>
      </p:sp>
      <p:sp>
        <p:nvSpPr>
          <p:cNvPr id="83" name="Shape 81"/>
          <p:cNvSpPr/>
          <p:nvPr/>
        </p:nvSpPr>
        <p:spPr>
          <a:xfrm>
            <a:off x="4295775" y="7971383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486275" y="7501830"/>
            <a:ext cx="10783634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Weighed item · age approval · unknown barcode · call staff</a:t>
            </a:r>
            <a:endParaRPr lang="en-US" sz="1650" dirty="0"/>
          </a:p>
        </p:txBody>
      </p:sp>
      <p:sp>
        <p:nvSpPr>
          <p:cNvPr id="85" name="Shape 83"/>
          <p:cNvSpPr/>
          <p:nvPr/>
        </p:nvSpPr>
        <p:spPr>
          <a:xfrm>
            <a:off x="15135225" y="7971383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5325725" y="7506593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5459075" y="7554218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857250" y="8223796"/>
            <a:ext cx="992386" cy="304800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90600" y="8271421"/>
            <a:ext cx="801886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2021086" y="8223796"/>
            <a:ext cx="120878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·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3378101" y="8223796"/>
            <a:ext cx="698897" cy="30480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511451" y="8271421"/>
            <a:ext cx="508397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4248448" y="8223796"/>
            <a:ext cx="9870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attended ·</a:t>
            </a: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5383709" y="8223796"/>
            <a:ext cx="912316" cy="304800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517059" y="8271421"/>
            <a:ext cx="721816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6467475" y="8223796"/>
            <a:ext cx="90219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571500"/>
            <a:ext cx="186499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PROCESS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6750" y="904875"/>
            <a:ext cx="186499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SCO checkout — end-to-end process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66750" y="1600200"/>
            <a:ext cx="16954500" cy="590550"/>
          </a:xfrm>
          <a:prstGeom prst="roundRect">
            <a:avLst>
              <a:gd name="adj" fmla="val 22581"/>
            </a:avLst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33550"/>
            <a:ext cx="181051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กระบวนการชำระเงินด้วยตนเอง — ตั้งแต่เริ่ม สแกนสินค้า ระบุสมาชิก ชำระเงิน จนถึงรับใบเสร็จและสินค้า</a:t>
            </a:r>
            <a:endParaRPr lang="en-US" sz="1725" dirty="0"/>
          </a:p>
        </p:txBody>
      </p:sp>
      <p:sp>
        <p:nvSpPr>
          <p:cNvPr id="6" name="Shape 4"/>
          <p:cNvSpPr/>
          <p:nvPr/>
        </p:nvSpPr>
        <p:spPr>
          <a:xfrm>
            <a:off x="666750" y="2438400"/>
            <a:ext cx="2587526" cy="2253555"/>
          </a:xfrm>
          <a:prstGeom prst="roundRect">
            <a:avLst>
              <a:gd name="adj" fmla="val 6763"/>
            </a:avLst>
          </a:prstGeom>
          <a:solidFill>
            <a:srgbClr val="EAF1FB"/>
          </a:solidFill>
          <a:ln w="9525">
            <a:solidFill>
              <a:srgbClr val="CF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7725" y="2657475"/>
            <a:ext cx="419100" cy="419100"/>
          </a:xfrm>
          <a:prstGeom prst="ellipse">
            <a:avLst/>
          </a:prstGeom>
          <a:solidFill>
            <a:srgbClr val="1F5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9625" y="26574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47725" y="3209925"/>
            <a:ext cx="2448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เริ่มต้น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847725" y="3590925"/>
            <a:ext cx="2301776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ลูกค้าแตะหน้าจอ หรือสแกนสินค้าชิ้นแรกเพื่อเริ่ม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47725" y="4187130"/>
            <a:ext cx="2225576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5825" y="4263330"/>
            <a:ext cx="21493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3349526" y="3365153"/>
            <a:ext cx="17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C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3540026" y="2438400"/>
            <a:ext cx="2587675" cy="2253555"/>
          </a:xfrm>
          <a:prstGeom prst="roundRect">
            <a:avLst>
              <a:gd name="adj" fmla="val 6763"/>
            </a:avLst>
          </a:prstGeom>
          <a:solidFill>
            <a:srgbClr val="EAF1FB"/>
          </a:solidFill>
          <a:ln w="9525">
            <a:solidFill>
              <a:srgbClr val="CF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21001" y="2657475"/>
            <a:ext cx="419100" cy="419100"/>
          </a:xfrm>
          <a:prstGeom prst="ellipse">
            <a:avLst/>
          </a:prstGeom>
          <a:solidFill>
            <a:srgbClr val="1F5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82901" y="26574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721001" y="3209925"/>
            <a:ext cx="24482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สแกนสินค้า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3721001" y="3590925"/>
            <a:ext cx="2301925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ระบบแสดงชื่อ ราคา จำนวน และยอดรวมแต่ละรายการ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721001" y="4187130"/>
            <a:ext cx="2225725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59101" y="4263330"/>
            <a:ext cx="21495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 · System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6222950" y="3365153"/>
            <a:ext cx="17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C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6413450" y="2438400"/>
            <a:ext cx="2587526" cy="2253555"/>
          </a:xfrm>
          <a:prstGeom prst="roundRect">
            <a:avLst>
              <a:gd name="adj" fmla="val 6763"/>
            </a:avLst>
          </a:prstGeom>
          <a:solidFill>
            <a:srgbClr val="EAF1FB"/>
          </a:solidFill>
          <a:ln w="9525">
            <a:solidFill>
              <a:srgbClr val="CF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594425" y="2657475"/>
            <a:ext cx="419100" cy="419100"/>
          </a:xfrm>
          <a:prstGeom prst="ellipse">
            <a:avLst/>
          </a:prstGeom>
          <a:solidFill>
            <a:srgbClr val="1F5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56325" y="26574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594425" y="3209925"/>
            <a:ext cx="24481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สมาชิก &amp; คูปอง</a:t>
            </a:r>
            <a:endParaRPr lang="en-US" sz="1725" dirty="0"/>
          </a:p>
        </p:txBody>
      </p:sp>
      <p:sp>
        <p:nvSpPr>
          <p:cNvPr id="26" name="Text 24"/>
          <p:cNvSpPr/>
          <p:nvPr/>
        </p:nvSpPr>
        <p:spPr>
          <a:xfrm>
            <a:off x="6594425" y="3590925"/>
            <a:ext cx="2301776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สแกนบัตร/เบอร์โทร และคูปอง (ข้ามได้)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94425" y="4187130"/>
            <a:ext cx="2225576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32525" y="4263330"/>
            <a:ext cx="21493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9096226" y="3365153"/>
            <a:ext cx="17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C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286726" y="2438400"/>
            <a:ext cx="2587675" cy="2253555"/>
          </a:xfrm>
          <a:prstGeom prst="roundRect">
            <a:avLst>
              <a:gd name="adj" fmla="val 6763"/>
            </a:avLst>
          </a:prstGeom>
          <a:solidFill>
            <a:srgbClr val="FEF6DC"/>
          </a:solidFill>
          <a:ln w="9525">
            <a:solidFill>
              <a:srgbClr val="F5E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467701" y="2657475"/>
            <a:ext cx="419100" cy="419100"/>
          </a:xfrm>
          <a:prstGeom prst="ellipse">
            <a:avLst/>
          </a:prstGeom>
          <a:solidFill>
            <a:srgbClr val="E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429601" y="26574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467701" y="3209925"/>
            <a:ext cx="24482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ชำระเงิน</a:t>
            </a:r>
            <a:endParaRPr lang="en-US" sz="1725" dirty="0"/>
          </a:p>
        </p:txBody>
      </p:sp>
      <p:sp>
        <p:nvSpPr>
          <p:cNvPr id="34" name="Text 32"/>
          <p:cNvSpPr/>
          <p:nvPr/>
        </p:nvSpPr>
        <p:spPr>
          <a:xfrm>
            <a:off x="9467701" y="3590925"/>
            <a:ext cx="2301925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เลือกวิธีชำระ — บัตร / QR / Wallet ผ่าน EDC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467701" y="4187130"/>
            <a:ext cx="2225725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505801" y="4263330"/>
            <a:ext cx="21495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 · EDC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1969651" y="3365153"/>
            <a:ext cx="17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C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50" dirty="0"/>
          </a:p>
        </p:txBody>
      </p:sp>
      <p:sp>
        <p:nvSpPr>
          <p:cNvPr id="38" name="Shape 36"/>
          <p:cNvSpPr/>
          <p:nvPr/>
        </p:nvSpPr>
        <p:spPr>
          <a:xfrm>
            <a:off x="12160151" y="2438400"/>
            <a:ext cx="2587675" cy="2253555"/>
          </a:xfrm>
          <a:prstGeom prst="roundRect">
            <a:avLst>
              <a:gd name="adj" fmla="val 6763"/>
            </a:avLst>
          </a:prstGeom>
          <a:solidFill>
            <a:srgbClr val="EAF1FB"/>
          </a:solidFill>
          <a:ln w="9525">
            <a:solidFill>
              <a:srgbClr val="CF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2341126" y="2657475"/>
            <a:ext cx="419100" cy="419100"/>
          </a:xfrm>
          <a:prstGeom prst="ellipse">
            <a:avLst/>
          </a:prstGeom>
          <a:solidFill>
            <a:srgbClr val="1F5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2303026" y="26574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2341126" y="3209925"/>
            <a:ext cx="24482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ประมวลผล</a:t>
            </a:r>
            <a:endParaRPr lang="en-US" sz="1725" dirty="0"/>
          </a:p>
        </p:txBody>
      </p:sp>
      <p:sp>
        <p:nvSpPr>
          <p:cNvPr id="42" name="Text 40"/>
          <p:cNvSpPr/>
          <p:nvPr/>
        </p:nvSpPr>
        <p:spPr>
          <a:xfrm>
            <a:off x="12341126" y="3590925"/>
            <a:ext cx="2301925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ระบบยืนยันการชำระกับธนาคารผ่าน EDC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12341126" y="4187130"/>
            <a:ext cx="2225725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2379226" y="4263330"/>
            <a:ext cx="21495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14843075" y="3365153"/>
            <a:ext cx="1714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9C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50" dirty="0"/>
          </a:p>
        </p:txBody>
      </p:sp>
      <p:sp>
        <p:nvSpPr>
          <p:cNvPr id="46" name="Shape 44"/>
          <p:cNvSpPr/>
          <p:nvPr/>
        </p:nvSpPr>
        <p:spPr>
          <a:xfrm>
            <a:off x="15033575" y="2438400"/>
            <a:ext cx="2587675" cy="2253555"/>
          </a:xfrm>
          <a:prstGeom prst="roundRect">
            <a:avLst>
              <a:gd name="adj" fmla="val 6763"/>
            </a:avLst>
          </a:prstGeom>
          <a:solidFill>
            <a:srgbClr val="E9F6EE"/>
          </a:solidFill>
          <a:ln w="9525">
            <a:solidFill>
              <a:srgbClr val="BFE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15214550" y="2657475"/>
            <a:ext cx="419100" cy="4191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5176450" y="265747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15214550" y="3209925"/>
            <a:ext cx="244829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ใบเสร็จ &amp; รับสินค้า</a:t>
            </a:r>
            <a:endParaRPr lang="en-US" sz="1725" dirty="0"/>
          </a:p>
        </p:txBody>
      </p:sp>
      <p:sp>
        <p:nvSpPr>
          <p:cNvPr id="50" name="Text 48"/>
          <p:cNvSpPr/>
          <p:nvPr/>
        </p:nvSpPr>
        <p:spPr>
          <a:xfrm>
            <a:off x="15214550" y="3590925"/>
            <a:ext cx="2301925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 ABB / e-receipt แล้วรับสินค้า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15214550" y="4187130"/>
            <a:ext cx="2225725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5252650" y="4263330"/>
            <a:ext cx="21495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1566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666750" y="4882455"/>
            <a:ext cx="16954500" cy="1438275"/>
          </a:xfrm>
          <a:prstGeom prst="roundRect">
            <a:avLst>
              <a:gd name="adj" fmla="val 10596"/>
            </a:avLst>
          </a:prstGeom>
          <a:solidFill>
            <a:srgbClr val="F6F1EE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04875" y="5063430"/>
            <a:ext cx="181260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Exception handling · กรณีพิเศษระหว่างทาง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904875" y="5511105"/>
            <a:ext cx="54038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076325" y="5644455"/>
            <a:ext cx="361950" cy="361950"/>
          </a:xfrm>
          <a:prstGeom prst="ellipse">
            <a:avLst/>
          </a:prstGeom>
          <a:solidFill>
            <a:srgbClr val="C216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38225" y="564445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2A</a:t>
            </a:r>
            <a:endParaRPr lang="en-US" sz="1275" dirty="0"/>
          </a:p>
        </p:txBody>
      </p:sp>
      <p:sp>
        <p:nvSpPr>
          <p:cNvPr id="58" name="Text 56"/>
          <p:cNvSpPr/>
          <p:nvPr/>
        </p:nvSpPr>
        <p:spPr>
          <a:xfrm>
            <a:off x="1552575" y="5711130"/>
            <a:ext cx="371149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21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ชั่งน้ำหนัก </a:t>
            </a:r>
            <a:r>
              <a:rPr lang="en-US" sz="1425" dirty="0">
                <a:solidFill>
                  <a:srgbClr val="3F3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สินค้าชั่งกิโล คิดราคาจากตาชั่ง</a:t>
            </a:r>
            <a:endParaRPr lang="en-US" sz="1425" dirty="0"/>
          </a:p>
        </p:txBody>
      </p:sp>
      <p:sp>
        <p:nvSpPr>
          <p:cNvPr id="59" name="Shape 57"/>
          <p:cNvSpPr/>
          <p:nvPr/>
        </p:nvSpPr>
        <p:spPr>
          <a:xfrm>
            <a:off x="6442025" y="5511105"/>
            <a:ext cx="5403949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613475" y="5644455"/>
            <a:ext cx="361950" cy="361950"/>
          </a:xfrm>
          <a:prstGeom prst="ellipse">
            <a:avLst/>
          </a:prstGeom>
          <a:solidFill>
            <a:srgbClr val="E0A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575375" y="564445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2B</a:t>
            </a:r>
            <a:endParaRPr lang="en-US" sz="1275" dirty="0"/>
          </a:p>
        </p:txBody>
      </p:sp>
      <p:sp>
        <p:nvSpPr>
          <p:cNvPr id="62" name="Text 60"/>
          <p:cNvSpPr/>
          <p:nvPr/>
        </p:nvSpPr>
        <p:spPr>
          <a:xfrm>
            <a:off x="7089725" y="5711130"/>
            <a:ext cx="36304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21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ตรวจอายุ </a:t>
            </a:r>
            <a:r>
              <a:rPr lang="en-US" sz="1425" dirty="0">
                <a:solidFill>
                  <a:srgbClr val="3F3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สินค้าควบคุม รอพนักงานอนุมัติ</a:t>
            </a:r>
            <a:endParaRPr lang="en-US" sz="1425" dirty="0"/>
          </a:p>
        </p:txBody>
      </p:sp>
      <p:sp>
        <p:nvSpPr>
          <p:cNvPr id="63" name="Shape 61"/>
          <p:cNvSpPr/>
          <p:nvPr/>
        </p:nvSpPr>
        <p:spPr>
          <a:xfrm>
            <a:off x="11979325" y="5511105"/>
            <a:ext cx="5403800" cy="62865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2150775" y="5644455"/>
            <a:ext cx="361950" cy="361950"/>
          </a:xfrm>
          <a:prstGeom prst="ellipse">
            <a:avLst/>
          </a:prstGeom>
          <a:solidFill>
            <a:srgbClr val="C216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2112675" y="564445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5B</a:t>
            </a:r>
            <a:endParaRPr lang="en-US" sz="1275" dirty="0"/>
          </a:p>
        </p:txBody>
      </p:sp>
      <p:sp>
        <p:nvSpPr>
          <p:cNvPr id="66" name="Text 64"/>
          <p:cNvSpPr/>
          <p:nvPr/>
        </p:nvSpPr>
        <p:spPr>
          <a:xfrm>
            <a:off x="12627025" y="5711130"/>
            <a:ext cx="407083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21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ชำระไม่สำเร็จ </a:t>
            </a:r>
            <a:r>
              <a:rPr lang="en-US" sz="1425" dirty="0">
                <a:solidFill>
                  <a:srgbClr val="3F3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ลองใหม่ / เปลี่ยนวิธี (ไม่ตัดเงิน)</a:t>
            </a:r>
            <a:endParaRPr lang="en-US" sz="1425" dirty="0"/>
          </a:p>
        </p:txBody>
      </p:sp>
      <p:sp>
        <p:nvSpPr>
          <p:cNvPr id="67" name="Shape 65"/>
          <p:cNvSpPr/>
          <p:nvPr/>
        </p:nvSpPr>
        <p:spPr>
          <a:xfrm>
            <a:off x="666750" y="6492180"/>
            <a:ext cx="16954500" cy="552450"/>
          </a:xfrm>
          <a:prstGeom prst="roundRect">
            <a:avLst>
              <a:gd name="adj" fmla="val 24138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350" y="6635055"/>
            <a:ext cx="266700" cy="266700"/>
          </a:xfrm>
          <a:prstGeom prst="rect">
            <a:avLst/>
          </a:prstGeom>
        </p:spPr>
      </p:pic>
      <p:sp>
        <p:nvSpPr>
          <p:cNvPr id="69" name="Text 66"/>
          <p:cNvSpPr/>
          <p:nvPr/>
        </p:nvSpPr>
        <p:spPr>
          <a:xfrm>
            <a:off x="1295400" y="6625530"/>
            <a:ext cx="105573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0F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Key controls: เรียกพนักงานได้ทุกขั้นตอน · ปกปิดข้อมูลสมาชิกแบบ PDPA · ไม่ตัดเงินเมื่อชำระไม่สำเร็จ · ออก ABB ทุกบิล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187756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09600" y="942975"/>
            <a:ext cx="1877568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screens, in order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609600" y="1619250"/>
            <a:ext cx="17068800" cy="561975"/>
          </a:xfrm>
          <a:prstGeom prst="roundRect">
            <a:avLst>
              <a:gd name="adj" fmla="val 23729"/>
            </a:avLst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7250" y="1743075"/>
            <a:ext cx="18230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ลำดับหน้าจอจริงบนเครื่อง SCO ตั้งแต่เริ่มจนจบการชำระเงิน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09600" y="2505075"/>
            <a:ext cx="3048000" cy="567838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2475" y="2647950"/>
            <a:ext cx="381000" cy="381000"/>
          </a:xfrm>
          <a:prstGeom prst="ellipse">
            <a:avLst/>
          </a:prstGeom>
          <a:solidFill>
            <a:srgbClr val="1F5FB0"/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4375" y="26479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1525" y="2686050"/>
            <a:ext cx="2724150" cy="4735413"/>
          </a:xfrm>
          <a:prstGeom prst="roundRect">
            <a:avLst>
              <a:gd name="adj" fmla="val 4196"/>
            </a:avLst>
          </a:prstGeom>
          <a:solidFill>
            <a:srgbClr val="1A13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752725"/>
            <a:ext cx="2590800" cy="460206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5318" y="7535763"/>
            <a:ext cx="2996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Startup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35318" y="7811988"/>
            <a:ext cx="2996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แตะเพื่อเริ่ม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3733800" y="5129957"/>
            <a:ext cx="381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4114800" y="2505075"/>
            <a:ext cx="3048000" cy="567838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57675" y="2647950"/>
            <a:ext cx="381000" cy="381000"/>
          </a:xfrm>
          <a:prstGeom prst="ellipse">
            <a:avLst/>
          </a:prstGeom>
          <a:solidFill>
            <a:srgbClr val="1F5FB0"/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19575" y="26479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276725" y="2686050"/>
            <a:ext cx="2724150" cy="4735413"/>
          </a:xfrm>
          <a:prstGeom prst="roundRect">
            <a:avLst>
              <a:gd name="adj" fmla="val 4196"/>
            </a:avLst>
          </a:prstGeom>
          <a:solidFill>
            <a:srgbClr val="1A13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752725"/>
            <a:ext cx="2590800" cy="460206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40517" y="7535763"/>
            <a:ext cx="2996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</a:t>
            </a:r>
            <a:endParaRPr lang="en-US" sz="1650" dirty="0"/>
          </a:p>
        </p:txBody>
      </p:sp>
      <p:sp>
        <p:nvSpPr>
          <p:cNvPr id="20" name="Text 16"/>
          <p:cNvSpPr/>
          <p:nvPr/>
        </p:nvSpPr>
        <p:spPr>
          <a:xfrm>
            <a:off x="4140517" y="7811988"/>
            <a:ext cx="2996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สแกนสินค้า</a:t>
            </a:r>
            <a:endParaRPr lang="en-US" sz="1275" dirty="0"/>
          </a:p>
        </p:txBody>
      </p:sp>
      <p:sp>
        <p:nvSpPr>
          <p:cNvPr id="21" name="Text 17"/>
          <p:cNvSpPr/>
          <p:nvPr/>
        </p:nvSpPr>
        <p:spPr>
          <a:xfrm>
            <a:off x="7239000" y="5129957"/>
            <a:ext cx="381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18"/>
          <p:cNvSpPr/>
          <p:nvPr/>
        </p:nvSpPr>
        <p:spPr>
          <a:xfrm>
            <a:off x="7620000" y="2505075"/>
            <a:ext cx="3048000" cy="567838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762875" y="2647950"/>
            <a:ext cx="381000" cy="381000"/>
          </a:xfrm>
          <a:prstGeom prst="ellipse">
            <a:avLst/>
          </a:prstGeom>
          <a:solidFill>
            <a:srgbClr val="1F5FB0"/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724775" y="26479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7781925" y="2686050"/>
            <a:ext cx="2724150" cy="4735413"/>
          </a:xfrm>
          <a:prstGeom prst="roundRect">
            <a:avLst>
              <a:gd name="adj" fmla="val 4196"/>
            </a:avLst>
          </a:prstGeom>
          <a:solidFill>
            <a:srgbClr val="1A13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2752725"/>
            <a:ext cx="2590800" cy="460206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645718" y="7535763"/>
            <a:ext cx="2996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Member</a:t>
            </a:r>
            <a:endParaRPr lang="en-US" sz="1650" dirty="0"/>
          </a:p>
        </p:txBody>
      </p:sp>
      <p:sp>
        <p:nvSpPr>
          <p:cNvPr id="28" name="Text 23"/>
          <p:cNvSpPr/>
          <p:nvPr/>
        </p:nvSpPr>
        <p:spPr>
          <a:xfrm>
            <a:off x="7645718" y="7811988"/>
            <a:ext cx="2996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ระบุสมาชิก</a:t>
            </a:r>
            <a:endParaRPr lang="en-US" sz="1275" dirty="0"/>
          </a:p>
        </p:txBody>
      </p:sp>
      <p:sp>
        <p:nvSpPr>
          <p:cNvPr id="29" name="Text 24"/>
          <p:cNvSpPr/>
          <p:nvPr/>
        </p:nvSpPr>
        <p:spPr>
          <a:xfrm>
            <a:off x="10744200" y="5129957"/>
            <a:ext cx="381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11125200" y="2505075"/>
            <a:ext cx="3048000" cy="567838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11268075" y="2647950"/>
            <a:ext cx="381000" cy="381000"/>
          </a:xfrm>
          <a:prstGeom prst="ellipse">
            <a:avLst/>
          </a:prstGeom>
          <a:solidFill>
            <a:srgbClr val="E0A500"/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11229975" y="26479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500" dirty="0"/>
          </a:p>
        </p:txBody>
      </p:sp>
      <p:sp>
        <p:nvSpPr>
          <p:cNvPr id="33" name="Shape 28"/>
          <p:cNvSpPr/>
          <p:nvPr/>
        </p:nvSpPr>
        <p:spPr>
          <a:xfrm>
            <a:off x="11287125" y="2686050"/>
            <a:ext cx="2724150" cy="4735413"/>
          </a:xfrm>
          <a:prstGeom prst="roundRect">
            <a:avLst>
              <a:gd name="adj" fmla="val 4196"/>
            </a:avLst>
          </a:prstGeom>
          <a:solidFill>
            <a:srgbClr val="1A13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3800" y="2752725"/>
            <a:ext cx="2590800" cy="460206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1150918" y="7535763"/>
            <a:ext cx="2996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Pay</a:t>
            </a:r>
            <a:endParaRPr lang="en-US" sz="1650" dirty="0"/>
          </a:p>
        </p:txBody>
      </p:sp>
      <p:sp>
        <p:nvSpPr>
          <p:cNvPr id="36" name="Text 30"/>
          <p:cNvSpPr/>
          <p:nvPr/>
        </p:nvSpPr>
        <p:spPr>
          <a:xfrm>
            <a:off x="11150918" y="7811988"/>
            <a:ext cx="2996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ชำระเงิน</a:t>
            </a:r>
            <a:endParaRPr lang="en-US" sz="1275" dirty="0"/>
          </a:p>
        </p:txBody>
      </p:sp>
      <p:sp>
        <p:nvSpPr>
          <p:cNvPr id="37" name="Text 31"/>
          <p:cNvSpPr/>
          <p:nvPr/>
        </p:nvSpPr>
        <p:spPr>
          <a:xfrm>
            <a:off x="14249400" y="5129957"/>
            <a:ext cx="38100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21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38" name="Shape 32"/>
          <p:cNvSpPr/>
          <p:nvPr/>
        </p:nvSpPr>
        <p:spPr>
          <a:xfrm>
            <a:off x="14630400" y="2505075"/>
            <a:ext cx="3048000" cy="5678388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14773275" y="2647950"/>
            <a:ext cx="381000" cy="381000"/>
          </a:xfrm>
          <a:prstGeom prst="ellipse">
            <a:avLst/>
          </a:prstGeom>
          <a:solidFill>
            <a:srgbClr val="1F8A4C"/>
          </a:solidFill>
          <a:ln/>
          <a:effectLst>
            <a:outerShdw blurRad="9525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14735175" y="264795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500" dirty="0"/>
          </a:p>
        </p:txBody>
      </p:sp>
      <p:sp>
        <p:nvSpPr>
          <p:cNvPr id="41" name="Shape 35"/>
          <p:cNvSpPr/>
          <p:nvPr/>
        </p:nvSpPr>
        <p:spPr>
          <a:xfrm>
            <a:off x="14792325" y="2686050"/>
            <a:ext cx="2724150" cy="4735413"/>
          </a:xfrm>
          <a:prstGeom prst="roundRect">
            <a:avLst>
              <a:gd name="adj" fmla="val 4196"/>
            </a:avLst>
          </a:prstGeom>
          <a:solidFill>
            <a:srgbClr val="1A131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0" y="2752725"/>
            <a:ext cx="2590800" cy="4602063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14656118" y="7535763"/>
            <a:ext cx="299656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Receipt</a:t>
            </a:r>
            <a:endParaRPr lang="en-US" sz="1650" dirty="0"/>
          </a:p>
        </p:txBody>
      </p:sp>
      <p:sp>
        <p:nvSpPr>
          <p:cNvPr id="44" name="Text 37"/>
          <p:cNvSpPr/>
          <p:nvPr/>
        </p:nvSpPr>
        <p:spPr>
          <a:xfrm>
            <a:off x="14656118" y="7811988"/>
            <a:ext cx="29965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27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ใบเสร็จ</a:t>
            </a:r>
            <a:endParaRPr lang="en-US" sz="1275" dirty="0"/>
          </a:p>
        </p:txBody>
      </p:sp>
      <p:sp>
        <p:nvSpPr>
          <p:cNvPr id="45" name="Shape 38"/>
          <p:cNvSpPr/>
          <p:nvPr/>
        </p:nvSpPr>
        <p:spPr>
          <a:xfrm>
            <a:off x="6205835" y="8469213"/>
            <a:ext cx="5876330" cy="609600"/>
          </a:xfrm>
          <a:prstGeom prst="roundRect">
            <a:avLst>
              <a:gd name="adj" fmla="val 46875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6463010" y="8593038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9210" y="8669238"/>
            <a:ext cx="209550" cy="20955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939260" y="8626376"/>
            <a:ext cx="53743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เมนูพนักงาน (Store management) เรียกใช้ได้ทุกขั้นตอน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2481709"/>
            <a:ext cx="3105150" cy="5323433"/>
          </a:xfrm>
          <a:prstGeom prst="roundRect">
            <a:avLst>
              <a:gd name="adj" fmla="val 7975"/>
            </a:avLst>
          </a:prstGeom>
          <a:solidFill>
            <a:srgbClr val="1A1310"/>
          </a:solidFill>
          <a:ln/>
          <a:effectLst>
            <a:outerShdw blurRad="762000" dist="3810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2605534"/>
            <a:ext cx="2857500" cy="5075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33900" y="2593181"/>
            <a:ext cx="14186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1 · STARTUP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4533900" y="2907506"/>
            <a:ext cx="141865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4533900" y="3659981"/>
            <a:ext cx="12896850" cy="4033837"/>
          </a:xfrm>
          <a:prstGeom prst="roundRect">
            <a:avLst>
              <a:gd name="adj" fmla="val 3778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43425" y="3669506"/>
            <a:ext cx="571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33925" y="3821906"/>
            <a:ext cx="266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5114925" y="3669506"/>
            <a:ext cx="314325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05425" y="3821906"/>
            <a:ext cx="28565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8258175" y="3669506"/>
            <a:ext cx="77343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448675" y="3821906"/>
            <a:ext cx="75853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Detail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15992475" y="3669506"/>
            <a:ext cx="142875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6182975" y="3821906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4543425" y="5087541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33925" y="4383881"/>
            <a:ext cx="266700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114925" y="5087541"/>
            <a:ext cx="31432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05425" y="4383881"/>
            <a:ext cx="2856548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Touch / scan to start เริ่มได้ทันที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258175" y="5087541"/>
            <a:ext cx="77343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448675" y="4383881"/>
            <a:ext cx="7585329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Tap the screen or scan the first item to begin.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5992475" y="508754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6182975" y="4383881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6316325" y="4431506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43425" y="5097066"/>
            <a:ext cx="571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43425" y="5948363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33925" y="5239941"/>
            <a:ext cx="2667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5114925" y="5097066"/>
            <a:ext cx="31432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114925" y="5948363"/>
            <a:ext cx="31432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305425" y="5239941"/>
            <a:ext cx="2856548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highlight>
                  <a:srgbClr val="FAF6F3"/>
                </a:highlight>
                <a:latin typeface="Rubik" pitchFamily="34" charset="0"/>
                <a:ea typeface="Rubik" pitchFamily="34" charset="-122"/>
                <a:cs typeface="Rubik" pitchFamily="34" charset="-120"/>
              </a:rPr>
              <a:t>Need Help เรียกพนักงาน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8258175" y="5097066"/>
            <a:ext cx="77343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8258175" y="5948363"/>
            <a:ext cx="77343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448675" y="5239941"/>
            <a:ext cx="7585329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touch calls staff and lights the red lane LED.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5992475" y="5097066"/>
            <a:ext cx="14287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5992475" y="594836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6182975" y="5244703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6316325" y="5292328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4543425" y="6809184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733925" y="6100763"/>
            <a:ext cx="2667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5114925" y="6809184"/>
            <a:ext cx="31432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305425" y="6100763"/>
            <a:ext cx="2856548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Language + voice เปลี่ยนภาษา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8258175" y="6809184"/>
            <a:ext cx="77343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448675" y="6100763"/>
            <a:ext cx="7585329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Thai, English, Chinese, Japanese, Arabic — with voice guidance.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5992475" y="6809184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6182975" y="6105525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6316325" y="6153150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4543425" y="6818709"/>
            <a:ext cx="571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543425" y="7670006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733925" y="6961584"/>
            <a:ext cx="2667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5114925" y="6818709"/>
            <a:ext cx="31432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114925" y="7670006"/>
            <a:ext cx="31432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305425" y="6961584"/>
            <a:ext cx="2856548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highlight>
                  <a:srgbClr val="FAF6F3"/>
                </a:highlight>
                <a:latin typeface="Rubik" pitchFamily="34" charset="0"/>
                <a:ea typeface="Rubik" pitchFamily="34" charset="-122"/>
                <a:cs typeface="Rubik" pitchFamily="34" charset="-120"/>
              </a:rPr>
              <a:t>Speaker volume ปรับเสียง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8258175" y="6818709"/>
            <a:ext cx="77343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8258175" y="7670006"/>
            <a:ext cx="77343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8448675" y="6961584"/>
            <a:ext cx="7585329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Adjust audio level for guidance.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15992475" y="6818709"/>
            <a:ext cx="14287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5992475" y="7670006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6182975" y="6966347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6316325" y="7013972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782800" y="2795885"/>
            <a:ext cx="2743200" cy="4695230"/>
          </a:xfrm>
          <a:prstGeom prst="roundRect">
            <a:avLst>
              <a:gd name="adj" fmla="val 8333"/>
            </a:avLst>
          </a:prstGeom>
          <a:solidFill>
            <a:srgbClr val="1A1310"/>
          </a:solidFill>
          <a:ln/>
          <a:effectLst>
            <a:outerShdw blurRad="762000" dist="3810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7100" y="2910185"/>
            <a:ext cx="2514600" cy="4466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2166491"/>
            <a:ext cx="148780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2 · SCAN PRODUCT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762000" y="2480816"/>
            <a:ext cx="1487805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762000" y="3176141"/>
            <a:ext cx="13525500" cy="4944219"/>
          </a:xfrm>
          <a:prstGeom prst="roundRect">
            <a:avLst>
              <a:gd name="adj" fmla="val 3082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1525" y="3185666"/>
            <a:ext cx="53131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62025" y="3338066"/>
            <a:ext cx="2265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302841" y="3185666"/>
            <a:ext cx="2857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493341" y="3338066"/>
            <a:ext cx="2562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4160341" y="3185666"/>
            <a:ext cx="8744248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350841" y="3338066"/>
            <a:ext cx="86255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Detail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12904589" y="3185666"/>
            <a:ext cx="137338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095089" y="3338066"/>
            <a:ext cx="10685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771525" y="4364831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2025" y="3900041"/>
            <a:ext cx="22651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302841" y="4364831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493341" y="3900041"/>
            <a:ext cx="256222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Store management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4160341" y="4364831"/>
            <a:ext cx="874424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350841" y="3900041"/>
            <a:ext cx="862557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Entry to the staff admin menu.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2904589" y="4364831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3095089" y="3900041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3228439" y="3947666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771525" y="4374356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71525" y="4986784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62025" y="4517231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302841" y="4374356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302841" y="4986784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493341" y="4517231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Camera feed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4160341" y="4374356"/>
            <a:ext cx="874424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160341" y="4986784"/>
            <a:ext cx="874424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350841" y="4517231"/>
            <a:ext cx="862557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Shopper sees themselves while scanning.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904589" y="4374356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2904589" y="4986784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3095089" y="4521994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228439" y="4569619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771525" y="5608737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62025" y="5139184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1302841" y="5608737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493341" y="5139184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Item line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4160341" y="5608737"/>
            <a:ext cx="874424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350841" y="5139184"/>
            <a:ext cx="862557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Name, unit price, qty, line total (regular price).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2904589" y="5608737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3095089" y="5143946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3228439" y="5191571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771525" y="5618262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771525" y="6230689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962025" y="5761137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1302841" y="5618262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302841" y="6230689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493341" y="5761137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Item count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4160341" y="5618262"/>
            <a:ext cx="874424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4160341" y="6230689"/>
            <a:ext cx="874424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350841" y="5761137"/>
            <a:ext cx="862557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Running number of items scanned.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12904589" y="5618262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2904589" y="6230689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3095089" y="5765899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3228439" y="5813524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771525" y="6852642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62025" y="6383089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1302841" y="685264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1493341" y="6383089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Quantity +/− &amp; delete</a:t>
            </a:r>
            <a:endParaRPr lang="en-US" sz="1650" dirty="0"/>
          </a:p>
        </p:txBody>
      </p:sp>
      <p:sp>
        <p:nvSpPr>
          <p:cNvPr id="63" name="Shape 60"/>
          <p:cNvSpPr/>
          <p:nvPr/>
        </p:nvSpPr>
        <p:spPr>
          <a:xfrm>
            <a:off x="4160341" y="6852642"/>
            <a:ext cx="874424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4350841" y="6383089"/>
            <a:ext cx="862557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Adjust quantity or remove a line.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12904589" y="6852642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3095089" y="6387852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3228439" y="6435477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771525" y="6862167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771525" y="7474595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962025" y="7005042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650" dirty="0"/>
          </a:p>
        </p:txBody>
      </p:sp>
      <p:sp>
        <p:nvSpPr>
          <p:cNvPr id="71" name="Shape 68"/>
          <p:cNvSpPr/>
          <p:nvPr/>
        </p:nvSpPr>
        <p:spPr>
          <a:xfrm>
            <a:off x="1302841" y="6862167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1302841" y="7474595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1493341" y="7005042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Group repeats</a:t>
            </a:r>
            <a:endParaRPr lang="en-US" sz="1650" dirty="0"/>
          </a:p>
        </p:txBody>
      </p:sp>
      <p:sp>
        <p:nvSpPr>
          <p:cNvPr id="74" name="Shape 71"/>
          <p:cNvSpPr/>
          <p:nvPr/>
        </p:nvSpPr>
        <p:spPr>
          <a:xfrm>
            <a:off x="4160341" y="6862167"/>
            <a:ext cx="874424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4160341" y="7474595"/>
            <a:ext cx="874424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4350841" y="7005042"/>
            <a:ext cx="862557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Repeated SKUs accumulate into one line.</a:t>
            </a:r>
            <a:endParaRPr lang="en-US" sz="1650" dirty="0"/>
          </a:p>
        </p:txBody>
      </p:sp>
      <p:sp>
        <p:nvSpPr>
          <p:cNvPr id="77" name="Shape 74"/>
          <p:cNvSpPr/>
          <p:nvPr/>
        </p:nvSpPr>
        <p:spPr>
          <a:xfrm>
            <a:off x="12904589" y="6862167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2904589" y="7474595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13095089" y="7009805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3228439" y="7057430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771525" y="8096548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962025" y="7626995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650" dirty="0"/>
          </a:p>
        </p:txBody>
      </p:sp>
      <p:sp>
        <p:nvSpPr>
          <p:cNvPr id="83" name="Shape 80"/>
          <p:cNvSpPr/>
          <p:nvPr/>
        </p:nvSpPr>
        <p:spPr>
          <a:xfrm>
            <a:off x="1302841" y="8096548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1493341" y="7626995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Cancel item / order</a:t>
            </a:r>
            <a:endParaRPr lang="en-US" sz="1650" dirty="0"/>
          </a:p>
        </p:txBody>
      </p:sp>
      <p:sp>
        <p:nvSpPr>
          <p:cNvPr id="85" name="Shape 82"/>
          <p:cNvSpPr/>
          <p:nvPr/>
        </p:nvSpPr>
        <p:spPr>
          <a:xfrm>
            <a:off x="4160341" y="8096548"/>
            <a:ext cx="874424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4350841" y="7626995"/>
            <a:ext cx="862557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Void one item or the whole order (configurable).</a:t>
            </a:r>
            <a:endParaRPr lang="en-US" sz="1650" dirty="0"/>
          </a:p>
        </p:txBody>
      </p:sp>
      <p:sp>
        <p:nvSpPr>
          <p:cNvPr id="87" name="Shape 84"/>
          <p:cNvSpPr/>
          <p:nvPr/>
        </p:nvSpPr>
        <p:spPr>
          <a:xfrm>
            <a:off x="12904589" y="8096548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13095089" y="7631757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13228439" y="7679382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2 · SAFEGUARDS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857250" y="1019175"/>
            <a:ext cx="182308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Timeout &amp; cancel-order flow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857250" y="1876425"/>
            <a:ext cx="16573500" cy="3700314"/>
          </a:xfrm>
          <a:prstGeom prst="roundRect">
            <a:avLst>
              <a:gd name="adj" fmla="val 4119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6775" y="1885950"/>
            <a:ext cx="571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7275" y="2038350"/>
            <a:ext cx="2667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438275" y="1885950"/>
            <a:ext cx="34290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28775" y="2038350"/>
            <a:ext cx="3150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4867275" y="1885950"/>
            <a:ext cx="1058718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57775" y="2038350"/>
            <a:ext cx="105238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Behaviour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5454461" y="1885950"/>
            <a:ext cx="1966764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644961" y="2038350"/>
            <a:ext cx="16619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866775" y="3065115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7275" y="2600325"/>
            <a:ext cx="26670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438275" y="3065115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28775" y="2600325"/>
            <a:ext cx="3150870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Inactivity timeout · หมดเวลา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867275" y="3065115"/>
            <a:ext cx="105871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57775" y="2600325"/>
            <a:ext cx="10523802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After a set idle time the kiosk asks “Are you still here? · ยังอยู่ไหม”.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454461" y="3065115"/>
            <a:ext cx="196676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644961" y="2600325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5778311" y="2647950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6775" y="3074640"/>
            <a:ext cx="571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66775" y="3687068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7275" y="3217515"/>
            <a:ext cx="2667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438275" y="3074640"/>
            <a:ext cx="34290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438275" y="3687068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628775" y="3217515"/>
            <a:ext cx="315087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Continue order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867275" y="3074640"/>
            <a:ext cx="105871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67275" y="3687068"/>
            <a:ext cx="105871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57775" y="3217515"/>
            <a:ext cx="1052380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Returns to the same cart, untouched.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454461" y="3074640"/>
            <a:ext cx="1966764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5454461" y="3687068"/>
            <a:ext cx="196676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5644961" y="3222278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5778311" y="3269903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66775" y="4309021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57275" y="3839468"/>
            <a:ext cx="2667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438275" y="4309021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628775" y="3839468"/>
            <a:ext cx="315087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Cancel order · ยกเลิก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4867275" y="4309021"/>
            <a:ext cx="105871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57775" y="3839468"/>
            <a:ext cx="1052380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Opens a confirmation — never an instant wipe.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454461" y="4309021"/>
            <a:ext cx="196676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5644961" y="3844230"/>
            <a:ext cx="1585764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5778311" y="3891855"/>
            <a:ext cx="1395264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 / Staff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66775" y="4318546"/>
            <a:ext cx="571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866775" y="4930973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57275" y="4461421"/>
            <a:ext cx="2667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438275" y="4318546"/>
            <a:ext cx="34290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438275" y="4930973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628775" y="4461421"/>
            <a:ext cx="315087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Yes, cancel the list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4867275" y="4318546"/>
            <a:ext cx="105871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67275" y="4930973"/>
            <a:ext cx="105871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57775" y="4461421"/>
            <a:ext cx="1052380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Clears everything and restarts a fresh scan.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454461" y="4318546"/>
            <a:ext cx="1966764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454461" y="4930973"/>
            <a:ext cx="196676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5644961" y="4466183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5778311" y="4513808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66775" y="5552926"/>
            <a:ext cx="571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57275" y="5083373"/>
            <a:ext cx="26670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438275" y="5552926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628775" y="5083373"/>
            <a:ext cx="3150870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No, keep ordering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4867275" y="5552926"/>
            <a:ext cx="105871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57775" y="5083373"/>
            <a:ext cx="10523802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Returns to the current cart.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454461" y="5552926"/>
            <a:ext cx="196676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15644961" y="5088136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5778311" y="5135761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857250" y="5805339"/>
            <a:ext cx="18230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can be configured as shopper-initiated or staff-only per Foodland's policy.</a:t>
            </a:r>
            <a:endParaRPr lang="en-US" sz="15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2481709"/>
            <a:ext cx="3105150" cy="5323433"/>
          </a:xfrm>
          <a:prstGeom prst="roundRect">
            <a:avLst>
              <a:gd name="adj" fmla="val 7975"/>
            </a:avLst>
          </a:prstGeom>
          <a:solidFill>
            <a:srgbClr val="1A1310"/>
          </a:solidFill>
          <a:ln/>
          <a:effectLst>
            <a:outerShdw blurRad="762000" dist="3810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2605534"/>
            <a:ext cx="2857500" cy="5075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33900" y="2477542"/>
            <a:ext cx="14186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3 · MEMBER &amp; COUPON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4533900" y="2791867"/>
            <a:ext cx="141865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4533900" y="3487192"/>
            <a:ext cx="12896850" cy="4322266"/>
          </a:xfrm>
          <a:prstGeom prst="roundRect">
            <a:avLst>
              <a:gd name="adj" fmla="val 3526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43425" y="3496717"/>
            <a:ext cx="53131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33925" y="3649117"/>
            <a:ext cx="2265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5074741" y="3496717"/>
            <a:ext cx="2857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65241" y="3649117"/>
            <a:ext cx="2562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7932241" y="3496717"/>
            <a:ext cx="8115598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22741" y="3649117"/>
            <a:ext cx="79780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Detail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16047839" y="3496717"/>
            <a:ext cx="137338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6238339" y="3649117"/>
            <a:ext cx="10685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4543425" y="4675882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33925" y="4211092"/>
            <a:ext cx="22651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074741" y="467588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65241" y="4211092"/>
            <a:ext cx="256222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Member prompt on Pay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7932241" y="4675882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22741" y="4211092"/>
            <a:ext cx="7978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“Scan member card” appears when Pay is pressed.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6047839" y="4675882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6238339" y="4211092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6371689" y="4258717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43425" y="4685407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43425" y="5297835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33925" y="4828282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5074741" y="4685407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74741" y="5297835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265241" y="4828282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Phone / member no.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7932241" y="4685407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932241" y="5297835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122741" y="4828282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Key a phone or member number.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6047839" y="4685407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6047839" y="5297835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6238339" y="4833045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6371689" y="4880670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4543425" y="5919788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733925" y="5450235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5074741" y="5919788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265241" y="5450235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App QR / card QR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7932241" y="5919788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122741" y="5450235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Scan from the loyalty app or behind a co-brand card.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6047839" y="5919788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6238339" y="5454997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6371689" y="5502622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4543425" y="5929313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543425" y="6541740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733925" y="6072188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5074741" y="5929313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074741" y="6541740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265241" y="6072188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coupons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7932241" y="5929313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7932241" y="6541740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8122741" y="6072188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Apply member coupons, then continue.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16047839" y="5929313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6047839" y="6541740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6238339" y="6076950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6371689" y="6124575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4543425" y="7163693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733925" y="6694140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5074741" y="7163693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265241" y="6694140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PDPA mask</a:t>
            </a:r>
            <a:endParaRPr lang="en-US" sz="1650" dirty="0"/>
          </a:p>
        </p:txBody>
      </p:sp>
      <p:sp>
        <p:nvSpPr>
          <p:cNvPr id="63" name="Shape 60"/>
          <p:cNvSpPr/>
          <p:nvPr/>
        </p:nvSpPr>
        <p:spPr>
          <a:xfrm>
            <a:off x="7932241" y="7163693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122741" y="6694140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Member info masked on screen (e.g. 092629xxxx).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16047839" y="7163693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6238339" y="6698903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6371689" y="6746528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4543425" y="7173218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4543425" y="7785646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4733925" y="7316093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650" dirty="0"/>
          </a:p>
        </p:txBody>
      </p:sp>
      <p:sp>
        <p:nvSpPr>
          <p:cNvPr id="71" name="Shape 68"/>
          <p:cNvSpPr/>
          <p:nvPr/>
        </p:nvSpPr>
        <p:spPr>
          <a:xfrm>
            <a:off x="5074741" y="7173218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5074741" y="7785646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5265241" y="7316093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Skip</a:t>
            </a:r>
            <a:endParaRPr lang="en-US" sz="1650" dirty="0"/>
          </a:p>
        </p:txBody>
      </p:sp>
      <p:sp>
        <p:nvSpPr>
          <p:cNvPr id="74" name="Shape 71"/>
          <p:cNvSpPr/>
          <p:nvPr/>
        </p:nvSpPr>
        <p:spPr>
          <a:xfrm>
            <a:off x="7932241" y="7173218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7932241" y="7785646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8122741" y="7316093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Continue as a guest, no identification.</a:t>
            </a:r>
            <a:endParaRPr lang="en-US" sz="1650" dirty="0"/>
          </a:p>
        </p:txBody>
      </p:sp>
      <p:sp>
        <p:nvSpPr>
          <p:cNvPr id="77" name="Shape 74"/>
          <p:cNvSpPr/>
          <p:nvPr/>
        </p:nvSpPr>
        <p:spPr>
          <a:xfrm>
            <a:off x="16047839" y="7173218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6047839" y="7785646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16238339" y="7320855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6371689" y="7368480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25600" y="2481709"/>
            <a:ext cx="3105150" cy="5323433"/>
          </a:xfrm>
          <a:prstGeom prst="roundRect">
            <a:avLst>
              <a:gd name="adj" fmla="val 7975"/>
            </a:avLst>
          </a:prstGeom>
          <a:solidFill>
            <a:srgbClr val="1A1310"/>
          </a:solidFill>
          <a:ln/>
          <a:effectLst>
            <a:outerShdw blurRad="762000" dist="3810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425" y="2605534"/>
            <a:ext cx="2857500" cy="5075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7250" y="2477542"/>
            <a:ext cx="14186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4 · PAYMENT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857250" y="2791867"/>
            <a:ext cx="141865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857250" y="3487192"/>
            <a:ext cx="12896850" cy="4322266"/>
          </a:xfrm>
          <a:prstGeom prst="roundRect">
            <a:avLst>
              <a:gd name="adj" fmla="val 3526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6775" y="3496717"/>
            <a:ext cx="53131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7275" y="3649117"/>
            <a:ext cx="2265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398091" y="3496717"/>
            <a:ext cx="2857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588591" y="3649117"/>
            <a:ext cx="2562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4255591" y="3496717"/>
            <a:ext cx="8115598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46091" y="3649117"/>
            <a:ext cx="79780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Detail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12371189" y="3496717"/>
            <a:ext cx="137338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561689" y="3649117"/>
            <a:ext cx="10685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866775" y="4675882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57275" y="4211092"/>
            <a:ext cx="22651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398091" y="467588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588591" y="4211092"/>
            <a:ext cx="256222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Order summary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4255591" y="4675882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446091" y="4211092"/>
            <a:ext cx="7978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Sale price per line, subtotal and total.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2371189" y="4675882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2561689" y="4211092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2695039" y="4258717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66775" y="4685407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66775" y="5297835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57275" y="4828282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398091" y="4685407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398091" y="5297835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588591" y="4828282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Discounts shown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4255591" y="4685407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255591" y="5297835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446091" y="4828282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Member coupon, member card, auto-trandis, deal &amp; free.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371189" y="4685407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2371189" y="5297835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2561689" y="4833045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2695039" y="4880670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866775" y="5919788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57275" y="5450235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1398091" y="5919788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588591" y="5450235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Card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4255591" y="5919788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46091" y="5450235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Credit / debit via EDC.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2371189" y="5919788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2561689" y="5454997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2695039" y="5502622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866775" y="5929313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66775" y="6541740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057275" y="6072188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1398091" y="5929313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398091" y="6541740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588591" y="6072188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QR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4255591" y="5929313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4255591" y="6541740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446091" y="6072188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PromptPay / QRCS via EDC.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12371189" y="5929313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2371189" y="6541740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2561689" y="6076950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2695039" y="6124575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866775" y="7163693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057275" y="6694140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1398091" y="7163693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1588591" y="6694140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Wallets</a:t>
            </a:r>
            <a:endParaRPr lang="en-US" sz="1650" dirty="0"/>
          </a:p>
        </p:txBody>
      </p:sp>
      <p:sp>
        <p:nvSpPr>
          <p:cNvPr id="63" name="Shape 60"/>
          <p:cNvSpPr/>
          <p:nvPr/>
        </p:nvSpPr>
        <p:spPr>
          <a:xfrm>
            <a:off x="4255591" y="7163693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4446091" y="6694140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Alipay, WeChat Pay via EDC.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12371189" y="7163693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2561689" y="6698903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2695039" y="6746528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866775" y="7173218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866775" y="7785646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1057275" y="7316093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650" dirty="0"/>
          </a:p>
        </p:txBody>
      </p:sp>
      <p:sp>
        <p:nvSpPr>
          <p:cNvPr id="71" name="Shape 68"/>
          <p:cNvSpPr/>
          <p:nvPr/>
        </p:nvSpPr>
        <p:spPr>
          <a:xfrm>
            <a:off x="1398091" y="7173218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1398091" y="7785646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1588591" y="7316093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EDC slip</a:t>
            </a:r>
            <a:endParaRPr lang="en-US" sz="1650" dirty="0"/>
          </a:p>
        </p:txBody>
      </p:sp>
      <p:sp>
        <p:nvSpPr>
          <p:cNvPr id="74" name="Shape 71"/>
          <p:cNvSpPr/>
          <p:nvPr/>
        </p:nvSpPr>
        <p:spPr>
          <a:xfrm>
            <a:off x="4255591" y="7173218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4255591" y="7785646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4446091" y="7316093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Sale slip printed with POS Tax ID.</a:t>
            </a:r>
            <a:endParaRPr lang="en-US" sz="1650" dirty="0"/>
          </a:p>
        </p:txBody>
      </p:sp>
      <p:sp>
        <p:nvSpPr>
          <p:cNvPr id="77" name="Shape 74"/>
          <p:cNvSpPr/>
          <p:nvPr/>
        </p:nvSpPr>
        <p:spPr>
          <a:xfrm>
            <a:off x="12371189" y="7173218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2371189" y="7785646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12561689" y="7320855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2695039" y="7368480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2481709"/>
            <a:ext cx="3105150" cy="5323433"/>
          </a:xfrm>
          <a:prstGeom prst="roundRect">
            <a:avLst>
              <a:gd name="adj" fmla="val 7975"/>
            </a:avLst>
          </a:prstGeom>
          <a:solidFill>
            <a:srgbClr val="1A1310"/>
          </a:solidFill>
          <a:ln/>
          <a:effectLst>
            <a:outerShdw blurRad="762000" dist="3810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75" y="2605534"/>
            <a:ext cx="2857500" cy="5075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33900" y="2477542"/>
            <a:ext cx="14186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5 · PROCESSING &amp; RECEIPT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4533900" y="2791867"/>
            <a:ext cx="141865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4533900" y="3487192"/>
            <a:ext cx="12896850" cy="4322266"/>
          </a:xfrm>
          <a:prstGeom prst="roundRect">
            <a:avLst>
              <a:gd name="adj" fmla="val 3526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43425" y="3496717"/>
            <a:ext cx="53131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33925" y="3649117"/>
            <a:ext cx="2265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5074741" y="3496717"/>
            <a:ext cx="2857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65241" y="3649117"/>
            <a:ext cx="2562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7932241" y="3496717"/>
            <a:ext cx="8115598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22741" y="3649117"/>
            <a:ext cx="79780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Detail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16047839" y="3496717"/>
            <a:ext cx="137338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6238339" y="3649117"/>
            <a:ext cx="10685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4543425" y="4675882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33925" y="4211092"/>
            <a:ext cx="22651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074741" y="467588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65241" y="4211092"/>
            <a:ext cx="256222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Payment guidance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7932241" y="4675882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22741" y="4211092"/>
            <a:ext cx="797806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On-screen steps mirror the EDC (tap / insert / QR).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6047839" y="4675882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6238339" y="4211092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6371689" y="4258717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543425" y="4685407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543425" y="5297835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33925" y="4828282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5074741" y="4685407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074741" y="5297835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265241" y="4828282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Processing state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7932241" y="4685407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7932241" y="5297835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122741" y="4828282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Clear “please wait” during bank authorization.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6047839" y="4685407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6047839" y="5297835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6238339" y="4833045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6371689" y="4880670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4543425" y="5919788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733925" y="5450235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5074741" y="5919788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265241" y="5450235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Retry on failure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7932241" y="5919788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8122741" y="5450235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Graceful retry — no money taken.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6047839" y="5919788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6238339" y="5454997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6371689" y="5502622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4543425" y="5929313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4543425" y="6541740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733925" y="6072188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5074741" y="5929313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074741" y="6541740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265241" y="6072188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Receipt: none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7932241" y="5929313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7932241" y="6541740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8122741" y="6072188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Paperless — nothing printed.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16047839" y="5929313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6047839" y="6541740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6238339" y="6076950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6371689" y="6124575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4543425" y="7163693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4733925" y="6694140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5074741" y="7163693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5265241" y="6694140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Receipt: print ABB</a:t>
            </a:r>
            <a:endParaRPr lang="en-US" sz="1650" dirty="0"/>
          </a:p>
        </p:txBody>
      </p:sp>
      <p:sp>
        <p:nvSpPr>
          <p:cNvPr id="63" name="Shape 60"/>
          <p:cNvSpPr/>
          <p:nvPr/>
        </p:nvSpPr>
        <p:spPr>
          <a:xfrm>
            <a:off x="7932241" y="7163693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122741" y="6694140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Abbreviated tax invoice on the printer (current default).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16047839" y="7163693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6238339" y="6698903"/>
            <a:ext cx="912316" cy="326678"/>
          </a:xfrm>
          <a:prstGeom prst="roundRect">
            <a:avLst>
              <a:gd name="adj" fmla="val 50000"/>
            </a:avLst>
          </a:prstGeom>
          <a:solidFill>
            <a:srgbClr val="E7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6371689" y="6746528"/>
            <a:ext cx="72181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System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4543425" y="7173218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4543425" y="7785646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4733925" y="7316093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650" dirty="0"/>
          </a:p>
        </p:txBody>
      </p:sp>
      <p:sp>
        <p:nvSpPr>
          <p:cNvPr id="71" name="Shape 68"/>
          <p:cNvSpPr/>
          <p:nvPr/>
        </p:nvSpPr>
        <p:spPr>
          <a:xfrm>
            <a:off x="5074741" y="7173218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5074741" y="7785646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5265241" y="7316093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E-receipt</a:t>
            </a:r>
            <a:endParaRPr lang="en-US" sz="1650" dirty="0"/>
          </a:p>
        </p:txBody>
      </p:sp>
      <p:sp>
        <p:nvSpPr>
          <p:cNvPr id="74" name="Shape 71"/>
          <p:cNvSpPr/>
          <p:nvPr/>
        </p:nvSpPr>
        <p:spPr>
          <a:xfrm>
            <a:off x="7932241" y="7173218"/>
            <a:ext cx="8115598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7932241" y="7785646"/>
            <a:ext cx="8115598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8122741" y="7316093"/>
            <a:ext cx="797806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Routes to Foodland landing page; no personal info entered.</a:t>
            </a:r>
            <a:endParaRPr lang="en-US" sz="1650" dirty="0"/>
          </a:p>
        </p:txBody>
      </p:sp>
      <p:sp>
        <p:nvSpPr>
          <p:cNvPr id="77" name="Shape 74"/>
          <p:cNvSpPr/>
          <p:nvPr/>
        </p:nvSpPr>
        <p:spPr>
          <a:xfrm>
            <a:off x="16047839" y="7173218"/>
            <a:ext cx="137338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6047839" y="7785646"/>
            <a:ext cx="137338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16238339" y="7320855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6371689" y="7368480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25600" y="2481709"/>
            <a:ext cx="3105150" cy="5323433"/>
          </a:xfrm>
          <a:prstGeom prst="roundRect">
            <a:avLst>
              <a:gd name="adj" fmla="val 7975"/>
            </a:avLst>
          </a:prstGeom>
          <a:solidFill>
            <a:srgbClr val="1A1310"/>
          </a:solidFill>
          <a:ln/>
          <a:effectLst>
            <a:outerShdw blurRad="762000" dist="3810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9425" y="2605534"/>
            <a:ext cx="2857500" cy="5075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7250" y="2166491"/>
            <a:ext cx="14186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SCREEN 6 · STORE MANAGEMENT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857250" y="2480816"/>
            <a:ext cx="1418653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table</a:t>
            </a:r>
            <a:endParaRPr lang="en-US" sz="3450" dirty="0"/>
          </a:p>
        </p:txBody>
      </p:sp>
      <p:sp>
        <p:nvSpPr>
          <p:cNvPr id="6" name="Shape 3"/>
          <p:cNvSpPr/>
          <p:nvPr/>
        </p:nvSpPr>
        <p:spPr>
          <a:xfrm>
            <a:off x="857250" y="3176141"/>
            <a:ext cx="12896850" cy="4944219"/>
          </a:xfrm>
          <a:prstGeom prst="roundRect">
            <a:avLst>
              <a:gd name="adj" fmla="val 3082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6775" y="3185666"/>
            <a:ext cx="53131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7275" y="3338066"/>
            <a:ext cx="2265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9" name="Shape 6"/>
          <p:cNvSpPr/>
          <p:nvPr/>
        </p:nvSpPr>
        <p:spPr>
          <a:xfrm>
            <a:off x="1398091" y="3185666"/>
            <a:ext cx="2857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588591" y="3338066"/>
            <a:ext cx="2562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4255591" y="3185666"/>
            <a:ext cx="8345984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46091" y="3338066"/>
            <a:ext cx="82153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Detail</a:t>
            </a:r>
            <a:endParaRPr lang="en-US" sz="1725" dirty="0"/>
          </a:p>
        </p:txBody>
      </p:sp>
      <p:sp>
        <p:nvSpPr>
          <p:cNvPr id="13" name="Shape 10"/>
          <p:cNvSpPr/>
          <p:nvPr/>
        </p:nvSpPr>
        <p:spPr>
          <a:xfrm>
            <a:off x="12601575" y="3185666"/>
            <a:ext cx="11430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2792075" y="3338066"/>
            <a:ext cx="838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5" name="Shape 12"/>
          <p:cNvSpPr/>
          <p:nvPr/>
        </p:nvSpPr>
        <p:spPr>
          <a:xfrm>
            <a:off x="866775" y="4364831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057275" y="3900041"/>
            <a:ext cx="22651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398091" y="4364831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588591" y="3900041"/>
            <a:ext cx="2562225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PIN login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4255591" y="4364831"/>
            <a:ext cx="834598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446091" y="3900041"/>
            <a:ext cx="821536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Staff authorize to open the menu.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2601575" y="4364831"/>
            <a:ext cx="1143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12792075" y="3900041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2925425" y="3947666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66775" y="4374356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66775" y="4986784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57275" y="4517231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398091" y="4374356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1398091" y="4986784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588591" y="4517231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Reprint ABB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4255591" y="4374356"/>
            <a:ext cx="8345984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255591" y="4986784"/>
            <a:ext cx="834598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446091" y="4517231"/>
            <a:ext cx="82153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Duplicate tax invoice (shows “duplicate”).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601575" y="4374356"/>
            <a:ext cx="11430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2601575" y="4986784"/>
            <a:ext cx="1143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2792075" y="4521994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2925425" y="4569619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866775" y="5608737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57275" y="5139184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1398091" y="5608737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588591" y="5139184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Close shift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4255591" y="5608737"/>
            <a:ext cx="834598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46091" y="5139184"/>
            <a:ext cx="82153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Settle and close the shift.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12601575" y="5608737"/>
            <a:ext cx="1143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12792075" y="5143946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12925425" y="5191571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866775" y="5618262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866775" y="6230689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057275" y="5761137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1398091" y="5618262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1398091" y="6230689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588591" y="5761137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Close program</a:t>
            </a:r>
            <a:endParaRPr lang="en-US" sz="1650" dirty="0"/>
          </a:p>
        </p:txBody>
      </p:sp>
      <p:sp>
        <p:nvSpPr>
          <p:cNvPr id="52" name="Shape 49"/>
          <p:cNvSpPr/>
          <p:nvPr/>
        </p:nvSpPr>
        <p:spPr>
          <a:xfrm>
            <a:off x="4255591" y="5618262"/>
            <a:ext cx="8345984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4255591" y="6230689"/>
            <a:ext cx="834598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4446091" y="5761137"/>
            <a:ext cx="82153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Shut the lane software down.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12601575" y="5618262"/>
            <a:ext cx="11430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2601575" y="6230689"/>
            <a:ext cx="1143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2792075" y="5765899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2925425" y="5813524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866775" y="6852642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057275" y="6383089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1398091" y="685264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1588591" y="6383089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Out of service</a:t>
            </a:r>
            <a:endParaRPr lang="en-US" sz="1650" dirty="0"/>
          </a:p>
        </p:txBody>
      </p:sp>
      <p:sp>
        <p:nvSpPr>
          <p:cNvPr id="63" name="Shape 60"/>
          <p:cNvSpPr/>
          <p:nvPr/>
        </p:nvSpPr>
        <p:spPr>
          <a:xfrm>
            <a:off x="4255591" y="6852642"/>
            <a:ext cx="834598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4446091" y="6383089"/>
            <a:ext cx="82153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Take the lane offline.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12601575" y="6852642"/>
            <a:ext cx="1143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3"/>
          <p:cNvSpPr/>
          <p:nvPr/>
        </p:nvSpPr>
        <p:spPr>
          <a:xfrm>
            <a:off x="12792075" y="6387852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4"/>
          <p:cNvSpPr/>
          <p:nvPr/>
        </p:nvSpPr>
        <p:spPr>
          <a:xfrm>
            <a:off x="12925425" y="6435477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68" name="Shape 65"/>
          <p:cNvSpPr/>
          <p:nvPr/>
        </p:nvSpPr>
        <p:spPr>
          <a:xfrm>
            <a:off x="866775" y="6862167"/>
            <a:ext cx="531316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6"/>
          <p:cNvSpPr/>
          <p:nvPr/>
        </p:nvSpPr>
        <p:spPr>
          <a:xfrm>
            <a:off x="866775" y="7474595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1057275" y="7005042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650" dirty="0"/>
          </a:p>
        </p:txBody>
      </p:sp>
      <p:sp>
        <p:nvSpPr>
          <p:cNvPr id="71" name="Shape 68"/>
          <p:cNvSpPr/>
          <p:nvPr/>
        </p:nvSpPr>
        <p:spPr>
          <a:xfrm>
            <a:off x="1398091" y="6862167"/>
            <a:ext cx="28575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69"/>
          <p:cNvSpPr/>
          <p:nvPr/>
        </p:nvSpPr>
        <p:spPr>
          <a:xfrm>
            <a:off x="1398091" y="7474595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1588591" y="7005042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Closing report</a:t>
            </a:r>
            <a:endParaRPr lang="en-US" sz="1650" dirty="0"/>
          </a:p>
        </p:txBody>
      </p:sp>
      <p:sp>
        <p:nvSpPr>
          <p:cNvPr id="74" name="Shape 71"/>
          <p:cNvSpPr/>
          <p:nvPr/>
        </p:nvSpPr>
        <p:spPr>
          <a:xfrm>
            <a:off x="4255591" y="6862167"/>
            <a:ext cx="8345984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2"/>
          <p:cNvSpPr/>
          <p:nvPr/>
        </p:nvSpPr>
        <p:spPr>
          <a:xfrm>
            <a:off x="4255591" y="7474595"/>
            <a:ext cx="834598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4446091" y="7005042"/>
            <a:ext cx="82153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Sales, payment types &amp; receipts summary.</a:t>
            </a:r>
            <a:endParaRPr lang="en-US" sz="1650" dirty="0"/>
          </a:p>
        </p:txBody>
      </p:sp>
      <p:sp>
        <p:nvSpPr>
          <p:cNvPr id="77" name="Shape 74"/>
          <p:cNvSpPr/>
          <p:nvPr/>
        </p:nvSpPr>
        <p:spPr>
          <a:xfrm>
            <a:off x="12601575" y="6862167"/>
            <a:ext cx="1143000" cy="621953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Shape 75"/>
          <p:cNvSpPr/>
          <p:nvPr/>
        </p:nvSpPr>
        <p:spPr>
          <a:xfrm>
            <a:off x="12601575" y="7474595"/>
            <a:ext cx="1143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6"/>
          <p:cNvSpPr/>
          <p:nvPr/>
        </p:nvSpPr>
        <p:spPr>
          <a:xfrm>
            <a:off x="12792075" y="7009805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7"/>
          <p:cNvSpPr/>
          <p:nvPr/>
        </p:nvSpPr>
        <p:spPr>
          <a:xfrm>
            <a:off x="12925425" y="7057430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81" name="Shape 78"/>
          <p:cNvSpPr/>
          <p:nvPr/>
        </p:nvSpPr>
        <p:spPr>
          <a:xfrm>
            <a:off x="866775" y="8096548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1057275" y="7626995"/>
            <a:ext cx="226516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650" dirty="0"/>
          </a:p>
        </p:txBody>
      </p:sp>
      <p:sp>
        <p:nvSpPr>
          <p:cNvPr id="83" name="Shape 80"/>
          <p:cNvSpPr/>
          <p:nvPr/>
        </p:nvSpPr>
        <p:spPr>
          <a:xfrm>
            <a:off x="1398091" y="8096548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1588591" y="7626995"/>
            <a:ext cx="2562225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About SCO</a:t>
            </a:r>
            <a:endParaRPr lang="en-US" sz="1650" dirty="0"/>
          </a:p>
        </p:txBody>
      </p:sp>
      <p:sp>
        <p:nvSpPr>
          <p:cNvPr id="85" name="Shape 82"/>
          <p:cNvSpPr/>
          <p:nvPr/>
        </p:nvSpPr>
        <p:spPr>
          <a:xfrm>
            <a:off x="4255591" y="8096548"/>
            <a:ext cx="834598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4446091" y="7626995"/>
            <a:ext cx="8215363" cy="3647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Device / version information.</a:t>
            </a:r>
            <a:endParaRPr lang="en-US" sz="1650" dirty="0"/>
          </a:p>
        </p:txBody>
      </p:sp>
      <p:sp>
        <p:nvSpPr>
          <p:cNvPr id="87" name="Shape 84"/>
          <p:cNvSpPr/>
          <p:nvPr/>
        </p:nvSpPr>
        <p:spPr>
          <a:xfrm>
            <a:off x="12601575" y="8096548"/>
            <a:ext cx="1143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Shape 85"/>
          <p:cNvSpPr/>
          <p:nvPr/>
        </p:nvSpPr>
        <p:spPr>
          <a:xfrm>
            <a:off x="12792075" y="7631757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12925425" y="7679382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EDGE-CASE FUNCTIONS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104900"/>
            <a:ext cx="182308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Special item handling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857250" y="2000250"/>
            <a:ext cx="2095500" cy="3574256"/>
          </a:xfrm>
          <a:prstGeom prst="roundRect">
            <a:avLst>
              <a:gd name="adj" fmla="val 9091"/>
            </a:avLst>
          </a:prstGeom>
          <a:solidFill>
            <a:srgbClr val="1A1310"/>
          </a:solidFill>
          <a:ln/>
          <a:effectLst>
            <a:outerShdw blurRad="381000" dist="17145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095500"/>
            <a:ext cx="1905000" cy="33837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24200" y="2000250"/>
            <a:ext cx="2095500" cy="3574256"/>
          </a:xfrm>
          <a:prstGeom prst="roundRect">
            <a:avLst>
              <a:gd name="adj" fmla="val 9091"/>
            </a:avLst>
          </a:prstGeom>
          <a:solidFill>
            <a:srgbClr val="1A1310"/>
          </a:solidFill>
          <a:ln/>
          <a:effectLst>
            <a:outerShdw blurRad="381000" dist="17145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450" y="2095500"/>
            <a:ext cx="1905000" cy="338375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600700" y="2000250"/>
            <a:ext cx="11830050" cy="4033837"/>
          </a:xfrm>
          <a:prstGeom prst="roundRect">
            <a:avLst>
              <a:gd name="adj" fmla="val 3778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610225" y="2009775"/>
            <a:ext cx="531316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800725" y="2162175"/>
            <a:ext cx="2265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725" dirty="0"/>
          </a:p>
        </p:txBody>
      </p:sp>
      <p:sp>
        <p:nvSpPr>
          <p:cNvPr id="11" name="Shape 7"/>
          <p:cNvSpPr/>
          <p:nvPr/>
        </p:nvSpPr>
        <p:spPr>
          <a:xfrm>
            <a:off x="6141541" y="2009775"/>
            <a:ext cx="2857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332041" y="2162175"/>
            <a:ext cx="2562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13" name="Shape 9"/>
          <p:cNvSpPr/>
          <p:nvPr/>
        </p:nvSpPr>
        <p:spPr>
          <a:xfrm>
            <a:off x="8999041" y="2009775"/>
            <a:ext cx="6993434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9189541" y="2162175"/>
            <a:ext cx="68222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Behaviour</a:t>
            </a:r>
            <a:endParaRPr lang="en-US" sz="1725" dirty="0"/>
          </a:p>
        </p:txBody>
      </p:sp>
      <p:sp>
        <p:nvSpPr>
          <p:cNvPr id="15" name="Shape 11"/>
          <p:cNvSpPr/>
          <p:nvPr/>
        </p:nvSpPr>
        <p:spPr>
          <a:xfrm>
            <a:off x="15992475" y="2009775"/>
            <a:ext cx="142875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16182975" y="216217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Actor</a:t>
            </a:r>
            <a:endParaRPr lang="en-US" sz="1725" dirty="0"/>
          </a:p>
        </p:txBody>
      </p:sp>
      <p:sp>
        <p:nvSpPr>
          <p:cNvPr id="17" name="Shape 13"/>
          <p:cNvSpPr/>
          <p:nvPr/>
        </p:nvSpPr>
        <p:spPr>
          <a:xfrm>
            <a:off x="5610225" y="3427809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800725" y="2724150"/>
            <a:ext cx="226516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650" dirty="0"/>
          </a:p>
        </p:txBody>
      </p:sp>
      <p:sp>
        <p:nvSpPr>
          <p:cNvPr id="19" name="Shape 15"/>
          <p:cNvSpPr/>
          <p:nvPr/>
        </p:nvSpPr>
        <p:spPr>
          <a:xfrm>
            <a:off x="6141541" y="3427809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332041" y="2724150"/>
            <a:ext cx="2562225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Weighed produce ชั่งน้ำหนัก</a:t>
            </a:r>
            <a:endParaRPr lang="en-US" sz="1650" dirty="0"/>
          </a:p>
        </p:txBody>
      </p:sp>
      <p:sp>
        <p:nvSpPr>
          <p:cNvPr id="21" name="Shape 17"/>
          <p:cNvSpPr/>
          <p:nvPr/>
        </p:nvSpPr>
        <p:spPr>
          <a:xfrm>
            <a:off x="8999041" y="3427809"/>
            <a:ext cx="699343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9189541" y="2724150"/>
            <a:ext cx="6822237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Place on scale → live price by weight → confirm.</a:t>
            </a:r>
            <a:endParaRPr lang="en-US" sz="1650" dirty="0"/>
          </a:p>
        </p:txBody>
      </p:sp>
      <p:sp>
        <p:nvSpPr>
          <p:cNvPr id="23" name="Shape 19"/>
          <p:cNvSpPr/>
          <p:nvPr/>
        </p:nvSpPr>
        <p:spPr>
          <a:xfrm>
            <a:off x="15992475" y="3427809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16182975" y="2724150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6316325" y="2771775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5610225" y="3437334"/>
            <a:ext cx="531316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5610225" y="4288631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800725" y="3580209"/>
            <a:ext cx="226516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650" dirty="0"/>
          </a:p>
        </p:txBody>
      </p:sp>
      <p:sp>
        <p:nvSpPr>
          <p:cNvPr id="29" name="Shape 25"/>
          <p:cNvSpPr/>
          <p:nvPr/>
        </p:nvSpPr>
        <p:spPr>
          <a:xfrm>
            <a:off x="6141541" y="3437334"/>
            <a:ext cx="2857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141541" y="4288631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332041" y="3580209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highlight>
                  <a:srgbClr val="FAF6F3"/>
                </a:highlight>
                <a:latin typeface="Rubik" pitchFamily="34" charset="0"/>
                <a:ea typeface="Rubik" pitchFamily="34" charset="-122"/>
                <a:cs typeface="Rubik" pitchFamily="34" charset="-120"/>
              </a:rPr>
              <a:t>Age-restricted ตรวจอายุ</a:t>
            </a:r>
            <a:endParaRPr lang="en-US" sz="1650" dirty="0"/>
          </a:p>
        </p:txBody>
      </p:sp>
      <p:sp>
        <p:nvSpPr>
          <p:cNvPr id="32" name="Shape 28"/>
          <p:cNvSpPr/>
          <p:nvPr/>
        </p:nvSpPr>
        <p:spPr>
          <a:xfrm>
            <a:off x="8999041" y="3437334"/>
            <a:ext cx="6993434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8999041" y="4288631"/>
            <a:ext cx="699343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9189541" y="3580209"/>
            <a:ext cx="6822237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Pauses for quick staff approval (alcohol &amp; more).</a:t>
            </a:r>
            <a:endParaRPr lang="en-US" sz="1650" dirty="0"/>
          </a:p>
        </p:txBody>
      </p:sp>
      <p:sp>
        <p:nvSpPr>
          <p:cNvPr id="35" name="Shape 31"/>
          <p:cNvSpPr/>
          <p:nvPr/>
        </p:nvSpPr>
        <p:spPr>
          <a:xfrm>
            <a:off x="15992475" y="3437334"/>
            <a:ext cx="14287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15992475" y="428863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16182975" y="3584972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16316325" y="3632597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  <p:sp>
        <p:nvSpPr>
          <p:cNvPr id="39" name="Shape 35"/>
          <p:cNvSpPr/>
          <p:nvPr/>
        </p:nvSpPr>
        <p:spPr>
          <a:xfrm>
            <a:off x="5610225" y="5149453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5800725" y="4441031"/>
            <a:ext cx="226516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650" dirty="0"/>
          </a:p>
        </p:txBody>
      </p:sp>
      <p:sp>
        <p:nvSpPr>
          <p:cNvPr id="41" name="Shape 37"/>
          <p:cNvSpPr/>
          <p:nvPr/>
        </p:nvSpPr>
        <p:spPr>
          <a:xfrm>
            <a:off x="6141541" y="5149453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6332041" y="4441031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Unknown barcode ไม่พบสินค้า</a:t>
            </a:r>
            <a:endParaRPr lang="en-US" sz="1650" dirty="0"/>
          </a:p>
        </p:txBody>
      </p:sp>
      <p:sp>
        <p:nvSpPr>
          <p:cNvPr id="43" name="Shape 39"/>
          <p:cNvSpPr/>
          <p:nvPr/>
        </p:nvSpPr>
        <p:spPr>
          <a:xfrm>
            <a:off x="8999041" y="5149453"/>
            <a:ext cx="699343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9189541" y="4441031"/>
            <a:ext cx="6822237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Clear retry, manual entry, or call staff.</a:t>
            </a:r>
            <a:endParaRPr lang="en-US" sz="1650" dirty="0"/>
          </a:p>
        </p:txBody>
      </p:sp>
      <p:sp>
        <p:nvSpPr>
          <p:cNvPr id="45" name="Shape 41"/>
          <p:cNvSpPr/>
          <p:nvPr/>
        </p:nvSpPr>
        <p:spPr>
          <a:xfrm>
            <a:off x="15992475" y="514945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2"/>
          <p:cNvSpPr/>
          <p:nvPr/>
        </p:nvSpPr>
        <p:spPr>
          <a:xfrm>
            <a:off x="16182975" y="4445794"/>
            <a:ext cx="992386" cy="32667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16316325" y="4493419"/>
            <a:ext cx="801886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C216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Shopper</a:t>
            </a:r>
            <a:endParaRPr lang="en-US" sz="1350" dirty="0"/>
          </a:p>
        </p:txBody>
      </p:sp>
      <p:sp>
        <p:nvSpPr>
          <p:cNvPr id="48" name="Shape 44"/>
          <p:cNvSpPr/>
          <p:nvPr/>
        </p:nvSpPr>
        <p:spPr>
          <a:xfrm>
            <a:off x="5610225" y="5158978"/>
            <a:ext cx="531316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5610225" y="6010275"/>
            <a:ext cx="531316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5800725" y="5301853"/>
            <a:ext cx="226516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650" dirty="0"/>
          </a:p>
        </p:txBody>
      </p:sp>
      <p:sp>
        <p:nvSpPr>
          <p:cNvPr id="51" name="Shape 47"/>
          <p:cNvSpPr/>
          <p:nvPr/>
        </p:nvSpPr>
        <p:spPr>
          <a:xfrm>
            <a:off x="6141541" y="5158978"/>
            <a:ext cx="2857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6141541" y="6010275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9"/>
          <p:cNvSpPr/>
          <p:nvPr/>
        </p:nvSpPr>
        <p:spPr>
          <a:xfrm>
            <a:off x="6332041" y="5301853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highlight>
                  <a:srgbClr val="FAF6F3"/>
                </a:highlight>
                <a:latin typeface="Rubik" pitchFamily="34" charset="0"/>
                <a:ea typeface="Rubik" pitchFamily="34" charset="-122"/>
                <a:cs typeface="Rubik" pitchFamily="34" charset="-120"/>
              </a:rPr>
              <a:t>Call staff เรียกพนักงาน</a:t>
            </a:r>
            <a:endParaRPr lang="en-US" sz="1650" dirty="0"/>
          </a:p>
        </p:txBody>
      </p:sp>
      <p:sp>
        <p:nvSpPr>
          <p:cNvPr id="54" name="Shape 50"/>
          <p:cNvSpPr/>
          <p:nvPr/>
        </p:nvSpPr>
        <p:spPr>
          <a:xfrm>
            <a:off x="8999041" y="5158978"/>
            <a:ext cx="6993434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8999041" y="6010275"/>
            <a:ext cx="6993434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9189541" y="5301853"/>
            <a:ext cx="6822237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One-touch help with red lane LED.</a:t>
            </a:r>
            <a:endParaRPr lang="en-US" sz="1650" dirty="0"/>
          </a:p>
        </p:txBody>
      </p:sp>
      <p:sp>
        <p:nvSpPr>
          <p:cNvPr id="57" name="Shape 53"/>
          <p:cNvSpPr/>
          <p:nvPr/>
        </p:nvSpPr>
        <p:spPr>
          <a:xfrm>
            <a:off x="15992475" y="5158978"/>
            <a:ext cx="14287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15992475" y="6010275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16182975" y="5306616"/>
            <a:ext cx="698897" cy="326678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16316325" y="5354241"/>
            <a:ext cx="508397" cy="26952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A64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Staff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SCOPE OF WORK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104900"/>
            <a:ext cx="18230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Six modules · mapped to Fujitsu API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7250" y="1981200"/>
            <a:ext cx="16573500" cy="5189934"/>
          </a:xfrm>
          <a:prstGeom prst="roundRect">
            <a:avLst>
              <a:gd name="adj" fmla="val 2936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6775" y="1990725"/>
            <a:ext cx="22860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7275" y="2143125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Module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3152775" y="1990725"/>
            <a:ext cx="1141095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43275" y="2143125"/>
            <a:ext cx="113722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Functions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4563725" y="1990725"/>
            <a:ext cx="28575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754225" y="2143125"/>
            <a:ext cx="25622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Fujitsu API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866775" y="3125986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7275" y="2705100"/>
            <a:ext cx="198120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Cart login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152775" y="3125986"/>
            <a:ext cx="114109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43275" y="2705100"/>
            <a:ext cx="11372279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Cashier login / authorize to open the lane.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4563725" y="3125986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754225" y="2705100"/>
            <a:ext cx="2562225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Display authorize (#0)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66775" y="3135511"/>
            <a:ext cx="2286000" cy="1143595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6775" y="4269581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7275" y="3278386"/>
            <a:ext cx="1981200" cy="88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Sale process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3152775" y="3135511"/>
            <a:ext cx="11410950" cy="1143595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52775" y="4269581"/>
            <a:ext cx="114109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43275" y="3278386"/>
            <a:ext cx="11372279" cy="88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Member lookup, scan barcode/QR, promotion &amp; quota, coupon validate, qty +/−, delete, group, Thai/Eng.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4563725" y="3135511"/>
            <a:ext cx="2857500" cy="1143595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4563725" y="4269581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754225" y="3278386"/>
            <a:ext cx="2562225" cy="886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Customer, item, promotion, coupon (#1·#2·#7)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66775" y="5130403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7275" y="4421981"/>
            <a:ext cx="19812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Complete sale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3152775" y="5130403"/>
            <a:ext cx="114109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43275" y="4421981"/>
            <a:ext cx="11372279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Checkout, send finalized transaction, issue tax invoice (ABB), reprint.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4563725" y="5130403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4754225" y="4421981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Send transaction, ABB (#10·#11)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866775" y="5139928"/>
            <a:ext cx="22860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6775" y="5708452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7275" y="5282803"/>
            <a:ext cx="19812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· Cart logout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3152775" y="5139928"/>
            <a:ext cx="114109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152775" y="5708452"/>
            <a:ext cx="114109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43275" y="5282803"/>
            <a:ext cx="1137227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Cashier logout / authorize for reporting.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4563725" y="5139928"/>
            <a:ext cx="28575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4563725" y="570845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4754225" y="5282803"/>
            <a:ext cx="256222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Display authorize (#13)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866775" y="6286500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57275" y="5860852"/>
            <a:ext cx="19812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 · Print closing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3152775" y="6286500"/>
            <a:ext cx="114109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343275" y="5860852"/>
            <a:ext cx="11372279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Closing report — sales, payment types, receipts.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4563725" y="6286500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754225" y="5860852"/>
            <a:ext cx="2562225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Issue closing report (#14)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866775" y="6296025"/>
            <a:ext cx="22860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66775" y="7147322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57275" y="6438900"/>
            <a:ext cx="19812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 · Payment at cart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3152775" y="6296025"/>
            <a:ext cx="114109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152775" y="7147322"/>
            <a:ext cx="114109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343275" y="6438900"/>
            <a:ext cx="11372279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payment (BBL) — card, QR, wallets; print sale slip.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4563725" y="6296025"/>
            <a:ext cx="28575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563725" y="7147322"/>
            <a:ext cx="28575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4754225" y="6438900"/>
            <a:ext cx="2562225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Interface with EDC device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PAYMENTS &amp; FISCAL PRINTING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104900"/>
            <a:ext cx="18230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Tenders &amp; documents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7250" y="2019300"/>
            <a:ext cx="8153400" cy="4058841"/>
          </a:xfrm>
          <a:prstGeom prst="roundRect">
            <a:avLst>
              <a:gd name="adj" fmla="val 3755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6775" y="2028825"/>
            <a:ext cx="67056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7275" y="2181225"/>
            <a:ext cx="6525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Payment via EDC · BBL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7572375" y="2028825"/>
            <a:ext cx="142875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62875" y="218122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Slip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866775" y="3164086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7275" y="2743200"/>
            <a:ext cx="6525768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Credit card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72375" y="3164086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62875" y="2743200"/>
            <a:ext cx="112395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slip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66775" y="3173611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6775" y="3742134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7275" y="3316486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Debit card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72375" y="3173611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72375" y="3742134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62875" y="3316486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slip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66775" y="4320183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7275" y="3894534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QRCS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572375" y="432018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62875" y="3894534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slip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66775" y="4329708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6775" y="4898231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7275" y="4472583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PromptPay QR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572375" y="4329708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72375" y="489823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62875" y="4472583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slip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866775" y="5476280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57275" y="5050631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Alipay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7572375" y="5476280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62875" y="5050631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slip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66775" y="5485805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6775" y="6054328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57275" y="5628680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WeChat Pay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572375" y="5485805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72375" y="6054328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62875" y="5628680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 slip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277350" y="2019300"/>
            <a:ext cx="8153400" cy="4058841"/>
          </a:xfrm>
          <a:prstGeom prst="roundRect">
            <a:avLst>
              <a:gd name="adj" fmla="val 3755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286875" y="2028825"/>
            <a:ext cx="67056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77375" y="2181225"/>
            <a:ext cx="6525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Fiscal document · Thailand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15992475" y="2028825"/>
            <a:ext cx="142875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6182975" y="2181225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Issued by</a:t>
            </a:r>
            <a:endParaRPr lang="en-US" sz="1725" dirty="0"/>
          </a:p>
        </p:txBody>
      </p:sp>
      <p:sp>
        <p:nvSpPr>
          <p:cNvPr id="44" name="Shape 42"/>
          <p:cNvSpPr/>
          <p:nvPr/>
        </p:nvSpPr>
        <p:spPr>
          <a:xfrm>
            <a:off x="9286875" y="3164086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477375" y="2743200"/>
            <a:ext cx="6525768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Abbreviated tax invoice (ABB)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92475" y="3164086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182975" y="2743200"/>
            <a:ext cx="112395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SCO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286875" y="3173611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286875" y="3742134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77375" y="3316486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EDC sale slip + POS Tax ID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92475" y="3173611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5992475" y="3742134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6182975" y="3316486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SCO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9286875" y="4320183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477375" y="3894534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Full tax invoice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5992475" y="432018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182975" y="3894534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Fujitsu API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9286875" y="4329708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286875" y="4898231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477375" y="4472583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Sale VAT report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5992475" y="4329708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5992475" y="489823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6182975" y="4472583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Fujitsu API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9286875" y="5476280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477375" y="5050631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Closing report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5992475" y="5476280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6182975" y="5050631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SCO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857250" y="6287691"/>
            <a:ext cx="170707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 carries all Revenue-Department particulars — branch &amp; tax ID, transaction no., date/time, items &amp; VAT type, tender, member ID, points, reference barcode, footer message.</a:t>
            </a:r>
            <a:endParaRPr lang="en-US" sz="15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INTEGRATION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104900"/>
            <a:ext cx="18230850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New SCO ↔ Fujitsu API ↔ Foodland systems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7250" y="2124075"/>
            <a:ext cx="8153400" cy="2902744"/>
          </a:xfrm>
          <a:prstGeom prst="roundRect">
            <a:avLst>
              <a:gd name="adj" fmla="val 5250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6775" y="2133600"/>
            <a:ext cx="6705600" cy="571500"/>
          </a:xfrm>
          <a:prstGeom prst="rect">
            <a:avLst/>
          </a:prstGeom>
          <a:solidFill>
            <a:srgbClr val="1F5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7275" y="2286000"/>
            <a:ext cx="6525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Outbound → SCO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7572375" y="2133600"/>
            <a:ext cx="1428750" cy="571500"/>
          </a:xfrm>
          <a:prstGeom prst="rect">
            <a:avLst/>
          </a:prstGeom>
          <a:solidFill>
            <a:srgbClr val="1F5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62875" y="22860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Source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866775" y="3268861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7275" y="2847975"/>
            <a:ext cx="6525768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Master data · catalog &amp; image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572375" y="326886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62875" y="2847975"/>
            <a:ext cx="112395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POS / SAP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66775" y="3278386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66775" y="3846909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7275" y="3421261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Promotions (BBY)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72375" y="3278386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72375" y="3846909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62875" y="3421261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POS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66775" y="4424958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7275" y="3999309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Loyalty profile &amp; points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572375" y="4424958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62875" y="3999309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Member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866775" y="4434483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66775" y="5003006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7275" y="4577358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Coupon validation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572375" y="4434483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572375" y="5003006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62875" y="4577358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277350" y="2124075"/>
            <a:ext cx="8153400" cy="2902744"/>
          </a:xfrm>
          <a:prstGeom prst="roundRect">
            <a:avLst>
              <a:gd name="adj" fmla="val 5250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286875" y="2133600"/>
            <a:ext cx="6705600" cy="571500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477375" y="2286000"/>
            <a:ext cx="65257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Inbound → POS</a:t>
            </a:r>
            <a:endParaRPr lang="en-US" sz="1725" dirty="0"/>
          </a:p>
        </p:txBody>
      </p:sp>
      <p:sp>
        <p:nvSpPr>
          <p:cNvPr id="32" name="Shape 30"/>
          <p:cNvSpPr/>
          <p:nvPr/>
        </p:nvSpPr>
        <p:spPr>
          <a:xfrm>
            <a:off x="15992475" y="2133600"/>
            <a:ext cx="1428750" cy="571500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182975" y="2286000"/>
            <a:ext cx="11239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Target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9286875" y="3268861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477375" y="2847975"/>
            <a:ext cx="6525768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Finalized transaction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92475" y="326886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6182975" y="2847975"/>
            <a:ext cx="112395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POS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9286875" y="3278386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286875" y="3846909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477375" y="3421261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EDC link (BBL)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92475" y="3278386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5992475" y="3846909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6182975" y="3421261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EDC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9286875" y="4424958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477375" y="3999309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Member earn-point</a:t>
            </a:r>
            <a:endParaRPr lang="en-US" sz="1650" dirty="0"/>
          </a:p>
        </p:txBody>
      </p:sp>
      <p:sp>
        <p:nvSpPr>
          <p:cNvPr id="46" name="Shape 44"/>
          <p:cNvSpPr/>
          <p:nvPr/>
        </p:nvSpPr>
        <p:spPr>
          <a:xfrm>
            <a:off x="15992475" y="4424958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6182975" y="3999309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Member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286875" y="4434483"/>
            <a:ext cx="67056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286875" y="5003006"/>
            <a:ext cx="67056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477375" y="4577358"/>
            <a:ext cx="6525768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Printing — ABB &amp; closing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5992475" y="4434483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5992475" y="5003006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6182975" y="4577358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Printer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857250" y="5236369"/>
            <a:ext cx="16573500" cy="685800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133475" y="5455444"/>
            <a:ext cx="165182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F3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Standards-based — Fujitsu provides the lane &amp; API center; Foodland keeps its POS, loyalty and member systems of record.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048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LOCALIZED FOR THAILAND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104900"/>
            <a:ext cx="18230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Revenue-Department requirements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7250" y="1981200"/>
            <a:ext cx="16573500" cy="4341614"/>
          </a:xfrm>
          <a:prstGeom prst="roundRect">
            <a:avLst>
              <a:gd name="adj" fmla="val 3510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6775" y="1990725"/>
            <a:ext cx="34290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7275" y="2143125"/>
            <a:ext cx="31508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Requirement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4295775" y="1990725"/>
            <a:ext cx="1083945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6275" y="2143125"/>
            <a:ext cx="107836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Detail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5135225" y="1990725"/>
            <a:ext cx="2286000" cy="5715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325725" y="2143125"/>
            <a:ext cx="1981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Owner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866775" y="3125986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7275" y="2705100"/>
            <a:ext cx="315087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 register / Tax ID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295775" y="3125986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6275" y="2705100"/>
            <a:ext cx="10783634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Registered POS Tax ID printed on every receipt.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135225" y="3125986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325725" y="2705100"/>
            <a:ext cx="198120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Foodland / SCO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66775" y="3135511"/>
            <a:ext cx="34290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6775" y="3986808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7275" y="3278386"/>
            <a:ext cx="315087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Abbreviated tax invoice (ABB)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295775" y="3135511"/>
            <a:ext cx="1083945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5775" y="3986808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6275" y="3278386"/>
            <a:ext cx="10783634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Issued by the SCO, matching the approved layout.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135225" y="3135511"/>
            <a:ext cx="2286000" cy="860822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5135225" y="3986808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5325725" y="3278386"/>
            <a:ext cx="1981200" cy="603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SCO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866775" y="4564856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57275" y="4139208"/>
            <a:ext cx="315087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Closing report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295775" y="4564856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86275" y="4139208"/>
            <a:ext cx="107836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Shift / day summaries on the receipt printer.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135225" y="4564856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325725" y="4139208"/>
            <a:ext cx="19812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SCO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866775" y="4574381"/>
            <a:ext cx="34290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66775" y="5142905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57275" y="4717256"/>
            <a:ext cx="315087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Payment via EDC (BBL)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4295775" y="4574381"/>
            <a:ext cx="108394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295775" y="5142905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486275" y="4717256"/>
            <a:ext cx="107836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Card, QRCS, PromptPay, Alipay, WeChat + slip.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135225" y="4574381"/>
            <a:ext cx="22860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5135225" y="5142905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5325725" y="4717256"/>
            <a:ext cx="19812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New SCO / BBL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866775" y="5720953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57275" y="5295305"/>
            <a:ext cx="315087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Full tax invoice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4295775" y="5720953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86275" y="5295305"/>
            <a:ext cx="107836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 shoppers claiming input tax credit.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5135225" y="5720953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5325725" y="5295305"/>
            <a:ext cx="19812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Fujitsu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866775" y="5730478"/>
            <a:ext cx="34290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66775" y="6299002"/>
            <a:ext cx="3429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57275" y="5873353"/>
            <a:ext cx="315087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Sale VAT report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4295775" y="5730478"/>
            <a:ext cx="108394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295775" y="6299002"/>
            <a:ext cx="108394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486275" y="5873353"/>
            <a:ext cx="10783634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Submission-ready, including SCO sales.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5135225" y="5730478"/>
            <a:ext cx="22860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135225" y="6299002"/>
            <a:ext cx="22860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5325725" y="5873353"/>
            <a:ext cx="19812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dirty="0">
                <a:solidFill>
                  <a:srgbClr val="3F3633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Fujitsu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42950"/>
            <a:ext cx="184404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HIGH-LEVEL 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762000" y="1143000"/>
            <a:ext cx="184404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Master data flow — ERP to SCO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828800"/>
            <a:ext cx="184404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 is treated as one POS terminal on the store network.</a:t>
            </a:r>
            <a:endParaRPr lang="en-US" sz="1725" dirty="0"/>
          </a:p>
        </p:txBody>
      </p:sp>
      <p:sp>
        <p:nvSpPr>
          <p:cNvPr id="5" name="Shape 3"/>
          <p:cNvSpPr/>
          <p:nvPr/>
        </p:nvSpPr>
        <p:spPr>
          <a:xfrm>
            <a:off x="762000" y="2695575"/>
            <a:ext cx="2381250" cy="2598241"/>
          </a:xfrm>
          <a:prstGeom prst="roundRect">
            <a:avLst>
              <a:gd name="adj" fmla="val 8000"/>
            </a:avLst>
          </a:prstGeom>
          <a:solidFill>
            <a:srgbClr val="F6F1EE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0200" y="2990850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1650" y="3162300"/>
            <a:ext cx="361950" cy="3619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3443" y="3829050"/>
            <a:ext cx="1918365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Customer ERP</a:t>
            </a:r>
            <a:endParaRPr lang="en-US" sz="1875" dirty="0"/>
          </a:p>
        </p:txBody>
      </p:sp>
      <p:sp>
        <p:nvSpPr>
          <p:cNvPr id="9" name="Text 6"/>
          <p:cNvSpPr/>
          <p:nvPr/>
        </p:nvSpPr>
        <p:spPr>
          <a:xfrm>
            <a:off x="1010245" y="4236244"/>
            <a:ext cx="1884759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source สินค้า · ราคา · โปรโมชัน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3009751" y="3689896"/>
            <a:ext cx="1486198" cy="32385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43101" y="3747046"/>
            <a:ext cx="1295698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5FB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sync schedule</a:t>
            </a:r>
            <a:endParaRPr lang="en-US" sz="13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1350" y="4089946"/>
            <a:ext cx="1143000" cy="2095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62450" y="2695575"/>
            <a:ext cx="2381250" cy="2598241"/>
          </a:xfrm>
          <a:prstGeom prst="roundRect">
            <a:avLst>
              <a:gd name="adj" fmla="val 8000"/>
            </a:avLst>
          </a:prstGeom>
          <a:solidFill>
            <a:srgbClr val="F6F1EE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200650" y="2990850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2100" y="3162300"/>
            <a:ext cx="361950" cy="361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80476" y="3829050"/>
            <a:ext cx="1945050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 Server HQ</a:t>
            </a:r>
            <a:endParaRPr lang="en-US" sz="1875" dirty="0"/>
          </a:p>
        </p:txBody>
      </p:sp>
      <p:sp>
        <p:nvSpPr>
          <p:cNvPr id="17" name="Text 12"/>
          <p:cNvSpPr/>
          <p:nvPr/>
        </p:nvSpPr>
        <p:spPr>
          <a:xfrm>
            <a:off x="5027116" y="4236244"/>
            <a:ext cx="1051917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Head-office central POS</a:t>
            </a:r>
            <a:endParaRPr lang="en-US" sz="1425" dirty="0"/>
          </a:p>
        </p:txBody>
      </p:sp>
      <p:sp>
        <p:nvSpPr>
          <p:cNvPr id="18" name="Shape 13"/>
          <p:cNvSpPr/>
          <p:nvPr/>
        </p:nvSpPr>
        <p:spPr>
          <a:xfrm>
            <a:off x="6641009" y="3689896"/>
            <a:ext cx="1424732" cy="323850"/>
          </a:xfrm>
          <a:prstGeom prst="roundRect">
            <a:avLst>
              <a:gd name="adj" fmla="val 50000"/>
            </a:avLst>
          </a:prstGeom>
          <a:solidFill>
            <a:srgbClr val="E9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774359" y="3747046"/>
            <a:ext cx="1234232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8A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sync realtime</a:t>
            </a:r>
            <a:endParaRPr lang="en-US" sz="13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81800" y="4089946"/>
            <a:ext cx="1143000" cy="20955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962900" y="2695575"/>
            <a:ext cx="2381250" cy="2598241"/>
          </a:xfrm>
          <a:prstGeom prst="roundRect">
            <a:avLst>
              <a:gd name="adj" fmla="val 8000"/>
            </a:avLst>
          </a:prstGeom>
          <a:solidFill>
            <a:srgbClr val="F6F1EE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8801100" y="2990850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FDECE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72550" y="3162300"/>
            <a:ext cx="361950" cy="3619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62925" y="3829050"/>
            <a:ext cx="1981200" cy="585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 Store Server</a:t>
            </a:r>
            <a:endParaRPr lang="en-US" sz="1875" dirty="0"/>
          </a:p>
        </p:txBody>
      </p:sp>
      <p:sp>
        <p:nvSpPr>
          <p:cNvPr id="25" name="Text 18"/>
          <p:cNvSpPr/>
          <p:nvPr/>
        </p:nvSpPr>
        <p:spPr>
          <a:xfrm>
            <a:off x="8743206" y="4510088"/>
            <a:ext cx="820638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controller</a:t>
            </a:r>
            <a:endParaRPr lang="en-US" sz="1425" dirty="0"/>
          </a:p>
        </p:txBody>
      </p:sp>
      <p:sp>
        <p:nvSpPr>
          <p:cNvPr id="26" name="Shape 19"/>
          <p:cNvSpPr/>
          <p:nvPr/>
        </p:nvSpPr>
        <p:spPr>
          <a:xfrm>
            <a:off x="10241459" y="3689896"/>
            <a:ext cx="1424732" cy="323850"/>
          </a:xfrm>
          <a:prstGeom prst="roundRect">
            <a:avLst>
              <a:gd name="adj" fmla="val 50000"/>
            </a:avLst>
          </a:prstGeom>
          <a:solidFill>
            <a:srgbClr val="E9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/>
          <p:nvPr/>
        </p:nvSpPr>
        <p:spPr>
          <a:xfrm>
            <a:off x="10374809" y="3747046"/>
            <a:ext cx="1234232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8A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sync realtime</a:t>
            </a:r>
            <a:endParaRPr lang="en-US" sz="13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82250" y="4089946"/>
            <a:ext cx="1143000" cy="20955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11563350" y="2695575"/>
            <a:ext cx="2381250" cy="2598241"/>
          </a:xfrm>
          <a:prstGeom prst="roundRect">
            <a:avLst>
              <a:gd name="adj" fmla="val 8000"/>
            </a:avLst>
          </a:prstGeom>
          <a:solidFill>
            <a:srgbClr val="F6F1EE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2"/>
          <p:cNvSpPr/>
          <p:nvPr/>
        </p:nvSpPr>
        <p:spPr>
          <a:xfrm>
            <a:off x="12401550" y="2990850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FFF4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573000" y="3162300"/>
            <a:ext cx="361950" cy="3619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2234267" y="3829050"/>
            <a:ext cx="103941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 API</a:t>
            </a:r>
            <a:endParaRPr lang="en-US" sz="1875" dirty="0"/>
          </a:p>
        </p:txBody>
      </p:sp>
      <p:sp>
        <p:nvSpPr>
          <p:cNvPr id="33" name="Text 24"/>
          <p:cNvSpPr/>
          <p:nvPr/>
        </p:nvSpPr>
        <p:spPr>
          <a:xfrm>
            <a:off x="12147500" y="4236244"/>
            <a:ext cx="1212949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2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Fujitsu API interface layer</a:t>
            </a:r>
            <a:endParaRPr lang="en-US" sz="1425" dirty="0"/>
          </a:p>
        </p:txBody>
      </p:sp>
      <p:sp>
        <p:nvSpPr>
          <p:cNvPr id="34" name="Shape 25"/>
          <p:cNvSpPr/>
          <p:nvPr/>
        </p:nvSpPr>
        <p:spPr>
          <a:xfrm>
            <a:off x="13841909" y="3689896"/>
            <a:ext cx="1424732" cy="323850"/>
          </a:xfrm>
          <a:prstGeom prst="roundRect">
            <a:avLst>
              <a:gd name="adj" fmla="val 50000"/>
            </a:avLst>
          </a:prstGeom>
          <a:solidFill>
            <a:srgbClr val="E9F6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/>
          <p:nvPr/>
        </p:nvSpPr>
        <p:spPr>
          <a:xfrm>
            <a:off x="13975259" y="3747046"/>
            <a:ext cx="1234232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F8A4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sync realtime</a:t>
            </a:r>
            <a:endParaRPr lang="en-US" sz="13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982700" y="4089946"/>
            <a:ext cx="1143000" cy="20955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15163800" y="2695575"/>
            <a:ext cx="2362200" cy="2598241"/>
          </a:xfrm>
          <a:prstGeom prst="roundRect">
            <a:avLst>
              <a:gd name="adj" fmla="val 8065"/>
            </a:avLst>
          </a:prstGeom>
          <a:gradFill rotWithShape="1">
            <a:gsLst>
              <a:gs pos="0">
                <a:srgbClr val="C2161A">
                  <a:alpha val="100000"/>
                </a:srgbClr>
              </a:gs>
              <a:gs pos="100000">
                <a:srgbClr val="9E1014">
                  <a:alpha val="100000"/>
                </a:srgbClr>
              </a:gs>
            </a:gsLst>
            <a:path path="circle">
              <a:fillToRect l="50000" t="35000" r="50000" b="65000"/>
            </a:path>
          </a:gradFill>
          <a:ln/>
          <a:effectLst>
            <a:outerShdw blurRad="419100" dist="190500" dir="5400000" algn="bl" rotWithShape="0">
              <a:srgbClr val="C2161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15992475" y="2981325"/>
            <a:ext cx="704850" cy="704850"/>
          </a:xfrm>
          <a:prstGeom prst="roundRect">
            <a:avLst>
              <a:gd name="adj" fmla="val 24324"/>
            </a:avLst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6163925" y="3152775"/>
            <a:ext cx="361950" cy="36195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6053792" y="3819525"/>
            <a:ext cx="582216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SCO</a:t>
            </a:r>
            <a:endParaRPr lang="en-US" sz="1875" dirty="0"/>
          </a:p>
        </p:txBody>
      </p:sp>
      <p:sp>
        <p:nvSpPr>
          <p:cNvPr id="41" name="Text 30"/>
          <p:cNvSpPr/>
          <p:nvPr/>
        </p:nvSpPr>
        <p:spPr>
          <a:xfrm>
            <a:off x="15773549" y="4226719"/>
            <a:ext cx="1142554" cy="526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เครื่องชำระเงิน self-checkout</a:t>
            </a:r>
            <a:endParaRPr lang="en-US" sz="1425" dirty="0"/>
          </a:p>
        </p:txBody>
      </p:sp>
      <p:sp>
        <p:nvSpPr>
          <p:cNvPr id="42" name="Shape 31"/>
          <p:cNvSpPr/>
          <p:nvPr/>
        </p:nvSpPr>
        <p:spPr>
          <a:xfrm>
            <a:off x="14595723" y="5465266"/>
            <a:ext cx="2930277" cy="768548"/>
          </a:xfrm>
          <a:prstGeom prst="roundRect">
            <a:avLst>
              <a:gd name="adj" fmla="val 37181"/>
            </a:avLst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14818469" y="5589091"/>
            <a:ext cx="2484785" cy="558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highlight>
                  <a:srgbClr val="211B1A"/>
                </a:highlight>
                <a:latin typeface="Rubik" pitchFamily="34" charset="0"/>
                <a:ea typeface="Rubik" pitchFamily="34" charset="-122"/>
                <a:cs typeface="Rubik" pitchFamily="34" charset="-120"/>
              </a:rPr>
              <a:t>SCO = one POS terminal </a:t>
            </a:r>
            <a:r>
              <a:rPr lang="en-US" sz="1350" dirty="0">
                <a:solidFill>
                  <a:srgbClr val="C9B6A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มองเป็น POS terminal หนึ่งเครื่อง</a:t>
            </a:r>
            <a:endParaRPr lang="en-US" sz="1575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2000" y="6581477"/>
            <a:ext cx="381000" cy="9525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228725" y="6519565"/>
            <a:ext cx="19401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batch sync</a:t>
            </a:r>
            <a:endParaRPr lang="en-US" sz="15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78398" y="6581477"/>
            <a:ext cx="381000" cy="9525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845123" y="6519565"/>
            <a:ext cx="13360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429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ARCHITECTURE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143000"/>
            <a:ext cx="182308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Cloud API center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57250" y="2190750"/>
            <a:ext cx="2476500" cy="3067050"/>
          </a:xfrm>
          <a:prstGeom prst="roundRect">
            <a:avLst>
              <a:gd name="adj" fmla="val 8462"/>
            </a:avLst>
          </a:prstGeom>
          <a:gradFill rotWithShape="1">
            <a:gsLst>
              <a:gs pos="0">
                <a:srgbClr val="C2161A">
                  <a:alpha val="100000"/>
                </a:srgbClr>
              </a:gs>
              <a:gs pos="100000">
                <a:srgbClr val="9E1014">
                  <a:alpha val="100000"/>
                </a:srgbClr>
              </a:gs>
            </a:gsLst>
            <a:path path="circle">
              <a:fillToRect l="50000" t="35000" r="50000" b="65000"/>
            </a:path>
          </a:gradFill>
          <a:ln/>
          <a:effectLst>
            <a:outerShdw blurRad="476250" dist="228600" dir="5400000" algn="bl" rotWithShape="0">
              <a:srgbClr val="C2161A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0615" y="3319463"/>
            <a:ext cx="19697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SCO Client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62050" y="3709988"/>
            <a:ext cx="18669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· scale · EDC · printer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524250" y="3495675"/>
            <a:ext cx="4000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4038600" y="2190750"/>
            <a:ext cx="9829800" cy="3067050"/>
          </a:xfrm>
          <a:prstGeom prst="roundRect">
            <a:avLst>
              <a:gd name="adj" fmla="val 6832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92868" y="2505075"/>
            <a:ext cx="101212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AWS API Gateway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52925" y="2924175"/>
            <a:ext cx="9201150" cy="986730"/>
          </a:xfrm>
          <a:prstGeom prst="roundRect">
            <a:avLst>
              <a:gd name="adj" fmla="val 13514"/>
            </a:avLst>
          </a:prstGeom>
          <a:solidFill>
            <a:srgbClr val="F6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23372" y="3133725"/>
            <a:ext cx="96602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Fujitsu API Engine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123372" y="3448050"/>
            <a:ext cx="9660255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25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· Database · CICD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3892868" y="4025205"/>
            <a:ext cx="101212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9C8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Fujitsu scope of work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058900" y="3495675"/>
            <a:ext cx="4000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9B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4573250" y="2190750"/>
            <a:ext cx="2857500" cy="306705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776133" y="2505075"/>
            <a:ext cx="24517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Foodland systems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887575" y="2924175"/>
            <a:ext cx="2228850" cy="762000"/>
          </a:xfrm>
          <a:prstGeom prst="roundRect">
            <a:avLst>
              <a:gd name="adj" fmla="val 15000"/>
            </a:avLst>
          </a:prstGeom>
          <a:solidFill>
            <a:srgbClr val="F6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078075" y="3076575"/>
            <a:ext cx="19240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1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/ app server</a:t>
            </a:r>
            <a:endParaRPr lang="en-US" sz="1575" dirty="0"/>
          </a:p>
        </p:txBody>
      </p:sp>
      <p:sp>
        <p:nvSpPr>
          <p:cNvPr id="19" name="Shape 17"/>
          <p:cNvSpPr/>
          <p:nvPr/>
        </p:nvSpPr>
        <p:spPr>
          <a:xfrm>
            <a:off x="14887575" y="3781425"/>
            <a:ext cx="2228850" cy="533400"/>
          </a:xfrm>
          <a:prstGeom prst="roundRect">
            <a:avLst>
              <a:gd name="adj" fmla="val 21429"/>
            </a:avLst>
          </a:prstGeom>
          <a:solidFill>
            <a:srgbClr val="F6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078075" y="3933825"/>
            <a:ext cx="1924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1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server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4887575" y="4410075"/>
            <a:ext cx="2228850" cy="533400"/>
          </a:xfrm>
          <a:prstGeom prst="roundRect">
            <a:avLst>
              <a:gd name="adj" fmla="val 21429"/>
            </a:avLst>
          </a:prstGeom>
          <a:solidFill>
            <a:srgbClr val="F6F1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078075" y="4562475"/>
            <a:ext cx="19240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1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server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28575" y="5524500"/>
            <a:ext cx="182308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b="1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provides the AWS management service &amp; CICD pipeline; Fujitsu builds and operates the API center &amp; SCO software.</a:t>
            </a:r>
            <a:endParaRPr lang="en-US" sz="15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666750"/>
            <a:ext cx="182308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E223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STATUS MATRIX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857250" y="1066800"/>
            <a:ext cx="182308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Who delivers each function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857250" y="1885950"/>
            <a:ext cx="16573500" cy="6637734"/>
          </a:xfrm>
          <a:prstGeom prst="roundRect">
            <a:avLst>
              <a:gd name="adj" fmla="val 2296"/>
            </a:avLst>
          </a:prstGeom>
          <a:ln w="9525">
            <a:solidFill>
              <a:srgbClr val="EC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6775" y="1895475"/>
            <a:ext cx="11506200" cy="8382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7275" y="2047875"/>
            <a:ext cx="1147038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2372975" y="1895475"/>
            <a:ext cx="1428750" cy="8382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25375" y="2047875"/>
            <a:ext cx="1123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New SCO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3801725" y="1895475"/>
            <a:ext cx="1428750" cy="8382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954125" y="2047875"/>
            <a:ext cx="1123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Fujitsu API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5230475" y="1895475"/>
            <a:ext cx="2190750" cy="838200"/>
          </a:xfrm>
          <a:prstGeom prst="rect">
            <a:avLst/>
          </a:prstGeom>
          <a:solidFill>
            <a:srgbClr val="211B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382875" y="2047875"/>
            <a:ext cx="18859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Operation-controlled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866775" y="3297436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7275" y="2876550"/>
            <a:ext cx="11470386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Member lookup &amp; display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2372975" y="3297436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25375" y="2876550"/>
            <a:ext cx="112395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801725" y="3297436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954125" y="2876550"/>
            <a:ext cx="1123950" cy="316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230475" y="3297436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6775" y="3306961"/>
            <a:ext cx="115062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6775" y="3875484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7275" y="3449836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barcode / QR &amp; price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2372975" y="3306961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372975" y="3875484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525375" y="3449836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801725" y="3306961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3801725" y="3875484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3954125" y="3449836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230475" y="3306961"/>
            <a:ext cx="2190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5230475" y="3875484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66775" y="4453533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57275" y="4027884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Promotion &amp; quota check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2372975" y="445353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2525375" y="4027884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3801725" y="445353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954125" y="4027884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230475" y="4453533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66775" y="4463058"/>
            <a:ext cx="115062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66775" y="5031581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57275" y="4605933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E-coupon validate &amp; apply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2372975" y="4463058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2372975" y="503158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2525375" y="4605933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3801725" y="4463058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3801725" y="5031581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3954125" y="4605933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230475" y="4463058"/>
            <a:ext cx="2190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5230475" y="5031581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66775" y="5609630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57275" y="5183981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Qty +/− · delete · group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12372975" y="5609630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2525375" y="5183981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53" name="Shape 51"/>
          <p:cNvSpPr/>
          <p:nvPr/>
        </p:nvSpPr>
        <p:spPr>
          <a:xfrm>
            <a:off x="13801725" y="5609630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5230475" y="5609630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66775" y="5619155"/>
            <a:ext cx="115062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66775" y="6187678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057275" y="5762030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Submit / finalize transaction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2372975" y="5619155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2372975" y="6187678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2525375" y="5762030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3801725" y="5619155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3801725" y="6187678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3954125" y="5762030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64" name="Shape 62"/>
          <p:cNvSpPr/>
          <p:nvPr/>
        </p:nvSpPr>
        <p:spPr>
          <a:xfrm>
            <a:off x="15230475" y="5619155"/>
            <a:ext cx="2190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15230475" y="6187678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6775" y="6765727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1057275" y="6340078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Tax invoice (ABB) &amp; reprint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2372975" y="6765727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2525375" y="6340078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70" name="Shape 68"/>
          <p:cNvSpPr/>
          <p:nvPr/>
        </p:nvSpPr>
        <p:spPr>
          <a:xfrm>
            <a:off x="13801725" y="6765727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3954125" y="6340078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72" name="Shape 70"/>
          <p:cNvSpPr/>
          <p:nvPr/>
        </p:nvSpPr>
        <p:spPr>
          <a:xfrm>
            <a:off x="15230475" y="6765727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866775" y="6775252"/>
            <a:ext cx="115062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866775" y="7343775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057275" y="6918127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EDC payment (BBL)</a:t>
            </a:r>
            <a:endParaRPr lang="en-US" sz="1650" dirty="0"/>
          </a:p>
        </p:txBody>
      </p:sp>
      <p:sp>
        <p:nvSpPr>
          <p:cNvPr id="76" name="Shape 74"/>
          <p:cNvSpPr/>
          <p:nvPr/>
        </p:nvSpPr>
        <p:spPr>
          <a:xfrm>
            <a:off x="12372975" y="6775252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2372975" y="7343775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2525375" y="6918127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79" name="Shape 77"/>
          <p:cNvSpPr/>
          <p:nvPr/>
        </p:nvSpPr>
        <p:spPr>
          <a:xfrm>
            <a:off x="13801725" y="6775252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3801725" y="7343775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5230475" y="6775252"/>
            <a:ext cx="2190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5230475" y="7343775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5382875" y="6918127"/>
            <a:ext cx="1885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dirty="0">
                <a:solidFill>
                  <a:srgbClr val="6B5D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BBL</a:t>
            </a:r>
            <a:endParaRPr lang="en-US" sz="1650" dirty="0"/>
          </a:p>
        </p:txBody>
      </p:sp>
      <p:sp>
        <p:nvSpPr>
          <p:cNvPr id="84" name="Shape 82"/>
          <p:cNvSpPr/>
          <p:nvPr/>
        </p:nvSpPr>
        <p:spPr>
          <a:xfrm>
            <a:off x="866775" y="7921823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1057275" y="7496175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Closing report</a:t>
            </a:r>
            <a:endParaRPr lang="en-US" sz="1650" dirty="0"/>
          </a:p>
        </p:txBody>
      </p:sp>
      <p:sp>
        <p:nvSpPr>
          <p:cNvPr id="86" name="Shape 84"/>
          <p:cNvSpPr/>
          <p:nvPr/>
        </p:nvSpPr>
        <p:spPr>
          <a:xfrm>
            <a:off x="12372975" y="792182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2525375" y="7496175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88" name="Shape 86"/>
          <p:cNvSpPr/>
          <p:nvPr/>
        </p:nvSpPr>
        <p:spPr>
          <a:xfrm>
            <a:off x="13801725" y="7921823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3954125" y="7496175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F8A4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90" name="Shape 88"/>
          <p:cNvSpPr/>
          <p:nvPr/>
        </p:nvSpPr>
        <p:spPr>
          <a:xfrm>
            <a:off x="15230475" y="7921823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866775" y="7931348"/>
            <a:ext cx="1150620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866775" y="8499872"/>
            <a:ext cx="1150620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1057275" y="8074223"/>
            <a:ext cx="11470386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211B1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On-top / manual / markdown / redeem</a:t>
            </a:r>
            <a:endParaRPr lang="en-US" sz="1650" dirty="0"/>
          </a:p>
        </p:txBody>
      </p:sp>
      <p:sp>
        <p:nvSpPr>
          <p:cNvPr id="94" name="Shape 92"/>
          <p:cNvSpPr/>
          <p:nvPr/>
        </p:nvSpPr>
        <p:spPr>
          <a:xfrm>
            <a:off x="12372975" y="7931348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12372975" y="8499872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13801725" y="7931348"/>
            <a:ext cx="1428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3801725" y="8499872"/>
            <a:ext cx="1428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13954125" y="8074223"/>
            <a:ext cx="1123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E0A5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○ ready</a:t>
            </a:r>
            <a:endParaRPr lang="en-US" sz="1650" dirty="0"/>
          </a:p>
        </p:txBody>
      </p:sp>
      <p:sp>
        <p:nvSpPr>
          <p:cNvPr id="99" name="Shape 97"/>
          <p:cNvSpPr/>
          <p:nvPr/>
        </p:nvSpPr>
        <p:spPr>
          <a:xfrm>
            <a:off x="15230475" y="7931348"/>
            <a:ext cx="2190750" cy="578048"/>
          </a:xfrm>
          <a:prstGeom prst="rect">
            <a:avLst/>
          </a:prstGeom>
          <a:solidFill>
            <a:srgbClr val="FA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5230475" y="8499872"/>
            <a:ext cx="2190750" cy="9525"/>
          </a:xfrm>
          <a:prstGeom prst="rect">
            <a:avLst/>
          </a:prstGeom>
          <a:solidFill>
            <a:srgbClr val="ECE3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5382875" y="8074223"/>
            <a:ext cx="188595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E0A5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●</a:t>
            </a:r>
            <a:endParaRPr lang="en-US" sz="1650" dirty="0"/>
          </a:p>
        </p:txBody>
      </p:sp>
      <p:sp>
        <p:nvSpPr>
          <p:cNvPr id="102" name="Text 100"/>
          <p:cNvSpPr/>
          <p:nvPr/>
        </p:nvSpPr>
        <p:spPr>
          <a:xfrm>
            <a:off x="857250" y="8695134"/>
            <a:ext cx="182308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8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r>
              <a:rPr lang="en-US" sz="15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· </a:t>
            </a:r>
            <a:r>
              <a:rPr lang="en-US" sz="1500" b="1" dirty="0">
                <a:solidFill>
                  <a:srgbClr val="E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ready </a:t>
            </a:r>
            <a:r>
              <a:rPr lang="en-US" sz="1500" dirty="0">
                <a:solidFill>
                  <a:srgbClr val="6B5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via API when operations enable it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1B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132832"/>
            <a:ext cx="178117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225" dirty="0">
                <a:solidFill>
                  <a:srgbClr val="F5B8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SCOPE SUMMARY &amp; NEXT STEPS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047750" y="3590032"/>
            <a:ext cx="136207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Confirm the function scope, then pilot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4649093"/>
            <a:ext cx="5270450" cy="1457325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81125" y="4944368"/>
            <a:ext cx="5064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B8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Confirm functions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81125" y="5315843"/>
            <a:ext cx="4741811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per-screen function list &amp; actors in scope.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508700" y="4649093"/>
            <a:ext cx="5270599" cy="1457325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42075" y="4944368"/>
            <a:ext cx="50642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B8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Integration points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42075" y="5315843"/>
            <a:ext cx="50642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POS, loyalty, coupon, EDC (BBL), fiscal printing.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969800" y="4649093"/>
            <a:ext cx="5270450" cy="1457325"/>
          </a:xfrm>
          <a:prstGeom prst="roundRect">
            <a:avLst>
              <a:gd name="adj" fmla="val 1176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03175" y="4944368"/>
            <a:ext cx="50640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B8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Build &amp; validate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303175" y="5315843"/>
            <a:ext cx="50640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against this function spec, then pilot.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47750" y="6611243"/>
            <a:ext cx="1828949" cy="533400"/>
          </a:xfrm>
          <a:prstGeom prst="roundRect">
            <a:avLst>
              <a:gd name="adj" fmla="val 1785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57300" y="6706493"/>
            <a:ext cx="148604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kern="0" spc="15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FUJITSU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067199" y="6730305"/>
            <a:ext cx="2208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3402360" y="6601718"/>
            <a:ext cx="1172914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4760" y="6677918"/>
            <a:ext cx="868114" cy="4000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37224" y="6687443"/>
            <a:ext cx="300311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>
                    <a:alpha val="85000"/>
                  </a:srgbClr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ขอบคุณครับ · Thank you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7295cc1-d279-42ac-ab4d-3b0f4fece050}" enabled="1" method="Standard" siteId="{a19f121d-81e1-4858-a9d8-736e267fd4c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2798</Words>
  <Application>Microsoft Office PowerPoint</Application>
  <PresentationFormat>Custom</PresentationFormat>
  <Paragraphs>581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Nunito Sans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Jirapatpong, Don</cp:lastModifiedBy>
  <cp:revision>1</cp:revision>
  <dcterms:created xsi:type="dcterms:W3CDTF">2026-06-22T08:33:58Z</dcterms:created>
  <dcterms:modified xsi:type="dcterms:W3CDTF">2026-06-22T08:36:10Z</dcterms:modified>
</cp:coreProperties>
</file>