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0" y="-1188720"/>
            <a:ext cx="3291840" cy="3291840"/>
          </a:xfrm>
          <a:prstGeom prst="ellipse">
            <a:avLst/>
          </a:prstGeom>
          <a:solidFill>
            <a:srgbClr val="1259B8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3566160"/>
            <a:ext cx="2834640" cy="2834640"/>
          </a:xfrm>
          <a:prstGeom prst="ellipse">
            <a:avLst/>
          </a:prstGeom>
          <a:solidFill>
            <a:srgbClr val="0B3E8E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3931920"/>
            <a:ext cx="1828800" cy="1828800"/>
          </a:xfrm>
          <a:prstGeom prst="ellipse">
            <a:avLst/>
          </a:prstGeom>
          <a:solidFill>
            <a:srgbClr val="1259B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3268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EC3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REVAMP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261872"/>
            <a:ext cx="7772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ServiceTransfer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85800" y="215798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CE9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ระบบซิงโครไนซ์ข้อมูล POS ระหว่างสาขาและสำนักงานใหญ่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257860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9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Legacy System Analysis &amp; Revamp Recommendations  •  จากการวิเคราะห์ย้อนกลับซอร์สโค้ด (Reverse Engineering)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310128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0B3E8E"/>
          </a:solidFill>
          <a:ln w="12700">
            <a:solidFill>
              <a:srgbClr val="3D6F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3832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8FB4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VERSION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36027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5.1810.1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679192" y="3310128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0B3E8E"/>
          </a:solidFill>
          <a:ln w="12700">
            <a:solidFill>
              <a:srgbClr val="3D6F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9192" y="33832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8FB4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PLATFORM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79192" y="36027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Visual Basic 6.0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72584" y="3310128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0B3E8E"/>
          </a:solidFill>
          <a:ln w="12700">
            <a:solidFill>
              <a:srgbClr val="3D6F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33832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8FB4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ORIGINAL DEVELOPER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72584" y="36027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Adasoft Co., Ltd.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65976" y="3310128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0B3E8E"/>
          </a:solidFill>
          <a:ln w="12700">
            <a:solidFill>
              <a:srgbClr val="3D6F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65976" y="33832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8FB4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665976" y="36027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June 12, 2026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" y="44988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4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จัดทำสำหรับทีมพัฒนาระบบใหม่ (System Revamp Team)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หัวข้อนำเสนอ (Agenda)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4041648" cy="987552"/>
          </a:xfrm>
          <a:prstGeom prst="roundRect">
            <a:avLst>
              <a:gd name="adj" fmla="val 4630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152704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" y="152704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44168" y="149047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ภาพรวมระบบและบริบททางธุรกิจ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44168" y="1828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Executive Summary &amp; Business Context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27448" y="1325880"/>
            <a:ext cx="4041648" cy="987552"/>
          </a:xfrm>
          <a:prstGeom prst="roundRect">
            <a:avLst>
              <a:gd name="adj" fmla="val 4630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55464" y="152704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855464" y="152704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68696" y="149047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สถาปัตยกรรมและโครงสร้างข้อมูล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568696" y="1828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Architecture &amp; Data Model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496312"/>
            <a:ext cx="4041648" cy="987552"/>
          </a:xfrm>
          <a:prstGeom prst="roundRect">
            <a:avLst>
              <a:gd name="adj" fmla="val 4630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" y="2697480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" y="26974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44168" y="266090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กระบวนการทำงานหลัก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44168" y="29992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Sync Flow • Tokenization • Member Points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27448" y="2496312"/>
            <a:ext cx="4041648" cy="987552"/>
          </a:xfrm>
          <a:prstGeom prst="roundRect">
            <a:avLst>
              <a:gd name="adj" fmla="val 4630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55464" y="2697480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4855464" y="26974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68696" y="266090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การจัดการข้อผิดพลาด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568696" y="29992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Error Handling &amp; Recovery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666744"/>
            <a:ext cx="4041648" cy="987552"/>
          </a:xfrm>
          <a:prstGeom prst="roundRect">
            <a:avLst>
              <a:gd name="adj" fmla="val 4630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" y="3867912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C62828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" y="3867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44168" y="383133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ข้อจำกัดของระบบเดิม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344168" y="41696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Legacy Constraints &amp; Risks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27448" y="3666744"/>
            <a:ext cx="4041648" cy="987552"/>
          </a:xfrm>
          <a:prstGeom prst="roundRect">
            <a:avLst>
              <a:gd name="adj" fmla="val 4630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55464" y="3867912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6A1B9A"/>
          </a:solidFill>
          <a:ln/>
        </p:spPr>
      </p:sp>
      <p:sp>
        <p:nvSpPr>
          <p:cNvPr id="32" name="Text 30"/>
          <p:cNvSpPr/>
          <p:nvPr/>
        </p:nvSpPr>
        <p:spPr>
          <a:xfrm>
            <a:off x="4855464" y="3867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68696" y="383133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ข้อเสนอแนะการปรับปรุง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568696" y="41696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 Architecture &amp; Roadmap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ServiceTransfer คืออะไร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D47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ServiceTransfer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คือโปรแกรมเบื้องหลัง (Background Agent) บนเครื่อง POS ทุกเครื่องที่สาขา ทำหน้าที่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ซิงค์ธุรกรรมการขายขึ้น Central Server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• 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Tokenize ข้อมูลบัตร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ผ่าน SafeNet ก่อนข้อมูลออกจากสาขา  • 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อัปเดตคะแนนสมาชิก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ไปยัง Member DB โดยอัตโนมัติ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084832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E3F2FD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21284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500 ms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77977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รอบการทำงาน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" y="3054096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Timer Polling ตรวจข้อมูลใหม่ทุกครึ่งวินาที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24328" y="2084832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E8F5E9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24328" y="221284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24328" y="277977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ตารางที่ซิงค์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34056" y="3054096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Sales / Deposit / Hold / Voucher / Points / Log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45736" y="2084832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E5F5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45736" y="221284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45736" y="277977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ฐานข้อมูล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55464" y="3054096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Local (POS) • Central (HQ) • Member DB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67144" y="2084832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FEBEE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67144" y="221284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2018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67144" y="277977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โค้ดเวอร์ชันล่าสุด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76872" y="3054096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VB6 — เทคโนโลยีสิ้นสุดการสนับสนุนแล้ว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822192"/>
            <a:ext cx="8138160" cy="841248"/>
          </a:xfrm>
          <a:prstGeom prst="roundRect">
            <a:avLst>
              <a:gd name="adj" fmla="val 5435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931920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 Revamp: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VB6 หมดการสนับสนุน • ต่อฐานข้อมูลตรงข้าม WAN • ไม่มี Database Transaction • SQL แบบต่อสตริง (เสี่ยง Injection) • รหัสผ่านเก็บแบบกึ่ง Plain Text • Polling สิ้นเปลืองทรัพยากร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02 —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สถาปัตยกรรมระบบ (System Architecture)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200400" cy="3291840"/>
          </a:xfrm>
          <a:prstGeom prst="roundRect">
            <a:avLst>
              <a:gd name="adj" fmla="val 1714"/>
            </a:avLst>
          </a:prstGeom>
          <a:solidFill>
            <a:srgbClr val="E3F2FD"/>
          </a:solidFill>
          <a:ln w="12700">
            <a:solidFill>
              <a:srgbClr val="90B8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89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47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 TERMINAL (Branch / สาขา)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" y="1755648"/>
            <a:ext cx="2798064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90B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810512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ServiceTransfer.exe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084832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VB6 Agent • Timer 500 ms • Single Instance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2688336"/>
            <a:ext cx="1335024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90B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761488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SQL Express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3017520"/>
            <a:ext cx="13350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Local DB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ธุรกรรมรอซิงค์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FTStaSentOnOff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21408" y="2688336"/>
            <a:ext cx="1335024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90B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21408" y="2761488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Configuration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21408" y="3017520"/>
            <a:ext cx="13350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AdaIni.Ada (Access)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Registry POSFront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LOG\*.Log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58368" y="3767328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 Connection 3 ชุด: SF_SQLDB1 / SF_SQLDB2 / SM_SQLDB1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0" y="1298448"/>
            <a:ext cx="3200400" cy="18288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12700">
            <a:solidFill>
              <a:srgbClr val="9CCD9F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389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CENTRAL SERVER (HQ / สำนักงานใหญ่)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87568" y="1755648"/>
            <a:ext cx="1335024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9CCD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182880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Central DB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87568" y="2084832"/>
            <a:ext cx="1335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TPSTSal* TPSTDeposit*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TSysSync TSysConfig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TPSTTokenLst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50608" y="1755648"/>
            <a:ext cx="1335024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9CCD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182880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Member DB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50608" y="2084832"/>
            <a:ext cx="1335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TCNMMallCard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TPSTBPHis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TPSTTokenLst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0" y="3456432"/>
            <a:ext cx="3200400" cy="1133856"/>
          </a:xfrm>
          <a:prstGeom prst="roundRect">
            <a:avLst>
              <a:gd name="adj" fmla="val 4839"/>
            </a:avLst>
          </a:prstGeom>
          <a:solidFill>
            <a:srgbClr val="FFF3E0"/>
          </a:solidFill>
          <a:ln w="12700">
            <a:solidFill>
              <a:srgbClr val="E8B57E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0" y="35295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SAFENET TOKENIZER (SOAP Web Service)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77840" y="3803904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InsertToken( ) → Card No. → Token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GetValue( ) → Token → Card No.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Format: FIRST_SIX_TOKEN • Timeout 10,000 ms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49040" y="1920240"/>
            <a:ext cx="1645920" cy="292608"/>
          </a:xfrm>
          <a:prstGeom prst="rightArrow">
            <a:avLst/>
          </a:prstGeom>
          <a:solidFill>
            <a:srgbClr val="2E7D32"/>
          </a:solidFill>
          <a:ln/>
        </p:spPr>
      </p:sp>
      <p:sp>
        <p:nvSpPr>
          <p:cNvPr id="29" name="Text 27"/>
          <p:cNvSpPr/>
          <p:nvPr/>
        </p:nvSpPr>
        <p:spPr>
          <a:xfrm>
            <a:off x="3675888" y="1627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SQLOLEDB.1 — INSERT / UPDATE ธุรกรรม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49040" y="2395728"/>
            <a:ext cx="1645920" cy="292608"/>
          </a:xfrm>
          <a:prstGeom prst="rightArrow">
            <a:avLst/>
          </a:prstGeom>
          <a:solidFill>
            <a:srgbClr val="6A1B9A"/>
          </a:solidFill>
          <a:ln/>
        </p:spPr>
      </p:sp>
      <p:sp>
        <p:nvSpPr>
          <p:cNvPr id="31" name="Text 29"/>
          <p:cNvSpPr/>
          <p:nvPr/>
        </p:nvSpPr>
        <p:spPr>
          <a:xfrm>
            <a:off x="3675888" y="2706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Member Points → TCNMMallCard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749040" y="3950208"/>
            <a:ext cx="1645920" cy="292608"/>
          </a:xfrm>
          <a:prstGeom prst="rightArrow">
            <a:avLst/>
          </a:prstGeom>
          <a:solidFill>
            <a:srgbClr val="E65100"/>
          </a:solidFill>
          <a:ln/>
        </p:spPr>
      </p:sp>
      <p:sp>
        <p:nvSpPr>
          <p:cNvPr id="33" name="Text 31"/>
          <p:cNvSpPr/>
          <p:nvPr/>
        </p:nvSpPr>
        <p:spPr>
          <a:xfrm>
            <a:off x="3675888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SOAP / HTTP — Tokenize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02 — 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ความสามารถหลักของระบบ (Key Features)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041648" cy="749808"/>
          </a:xfrm>
          <a:prstGeom prst="roundRect">
            <a:avLst>
              <a:gd name="adj" fmla="val 6098"/>
            </a:avLst>
          </a:prstGeom>
          <a:solidFill>
            <a:srgbClr val="E3F2FD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4904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490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9848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ซิงค์อัตโนมัติเบื้องหลัง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69848" y="166420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Timer Polling ทุก 500 ms — ไม่รบกวนการขายหน้าร้าน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727448" y="1298448"/>
            <a:ext cx="4041648" cy="749808"/>
          </a:xfrm>
          <a:prstGeom prst="roundRect">
            <a:avLst>
              <a:gd name="adj" fmla="val 6098"/>
            </a:avLst>
          </a:prstGeom>
          <a:solidFill>
            <a:srgbClr val="E3F2FD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37176" y="14904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837176" y="1490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94376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รองรับ Offline เต็มรูปแบบ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94376" y="166420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 ขายต่อได้แม้ขาดการเชื่อมต่อ — ซิงค์ย้อนหลังอัตโนมัติ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02920" y="2194560"/>
            <a:ext cx="4041648" cy="749808"/>
          </a:xfrm>
          <a:prstGeom prst="roundRect">
            <a:avLst>
              <a:gd name="adj" fmla="val 6098"/>
            </a:avLst>
          </a:prstGeom>
          <a:solidFill>
            <a:srgbClr val="E8F5E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" y="23865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" y="2386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69848" y="22677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Dynamic SQL ตามโครงสร้างจริง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69848" y="256032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INSERT/UPDATE จากทุกฟิลด์ใน Recordset ตาม Prefix (FT/FC/FN/FD)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727448" y="2194560"/>
            <a:ext cx="4041648" cy="749808"/>
          </a:xfrm>
          <a:prstGeom prst="roundRect">
            <a:avLst>
              <a:gd name="adj" fmla="val 6098"/>
            </a:avLst>
          </a:prstGeom>
          <a:solidFill>
            <a:srgbClr val="E8F5E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37176" y="23865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4837176" y="2386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94376" y="22677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ตั้งค่าได้โดยไม่แก้โค้ด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94376" y="256032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กำหนดตาราง เงื่อนไข และลำดับซิงค์ผ่านตาราง TSysSync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02920" y="3090672"/>
            <a:ext cx="4041648" cy="749808"/>
          </a:xfrm>
          <a:prstGeom prst="roundRect">
            <a:avLst>
              <a:gd name="adj" fmla="val 6098"/>
            </a:avLst>
          </a:prstGeom>
          <a:solidFill>
            <a:srgbClr val="FFF3E0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" y="32826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" y="3282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69848" y="31638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Tokenization ข้อมูลบัตร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69848" y="345643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FTCstCardCode / FTSrcCardNo / FTScdCardID / FTSpoMemID ผ่าน SafeNet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727448" y="3090672"/>
            <a:ext cx="4041648" cy="749808"/>
          </a:xfrm>
          <a:prstGeom prst="roundRect">
            <a:avLst>
              <a:gd name="adj" fmla="val 6098"/>
            </a:avLst>
          </a:prstGeom>
          <a:solidFill>
            <a:srgbClr val="F3E5F5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37176" y="32826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/>
        </p:spPr>
      </p:sp>
      <p:sp>
        <p:nvSpPr>
          <p:cNvPr id="32" name="Text 30"/>
          <p:cNvSpPr/>
          <p:nvPr/>
        </p:nvSpPr>
        <p:spPr>
          <a:xfrm>
            <a:off x="4837176" y="3282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94376" y="31638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คะแนนสมาชิกอัตโนมัติ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94376" y="345643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 +/− ตาม TransType → อัปเดต FCEarned / FCBalance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02920" y="3986784"/>
            <a:ext cx="4041648" cy="749808"/>
          </a:xfrm>
          <a:prstGeom prst="roundRect">
            <a:avLst>
              <a:gd name="adj" fmla="val 6098"/>
            </a:avLst>
          </a:prstGeom>
          <a:solidFill>
            <a:srgbClr val="FFEBE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41788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" y="4178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69848" y="40599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ตรวจจับข้อมูลซ้ำ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69848" y="435254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Duplicate Key → เปลี่ยนเป็น UPDATE / DELETE-then-INSERT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4727448" y="3986784"/>
            <a:ext cx="4041648" cy="749808"/>
          </a:xfrm>
          <a:prstGeom prst="roundRect">
            <a:avLst>
              <a:gd name="adj" fmla="val 6098"/>
            </a:avLst>
          </a:prstGeom>
          <a:solidFill>
            <a:srgbClr val="FFEBEE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37176" y="41788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/>
        </p:spPr>
      </p:sp>
      <p:sp>
        <p:nvSpPr>
          <p:cNvPr id="42" name="Text 40"/>
          <p:cNvSpPr/>
          <p:nvPr/>
        </p:nvSpPr>
        <p:spPr>
          <a:xfrm>
            <a:off x="4837176" y="4178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94376" y="40599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ฟื้นตัวจากปัญหาเอง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294376" y="435254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Timeout → DBCC DBREINDEX แล้ว Retry • Connection Lost → รอบถัดไป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02 — 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โครงสร้างข้อมูลหลัก (Simplified ER)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502920" y="2121408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2128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TPSTSalHD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48716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E0F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หัวบิล (1 บิล = 1 แถว)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FE0F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PK: Tmn+TransNo+Date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80360" y="1335024"/>
            <a:ext cx="1828800" cy="603504"/>
          </a:xfrm>
          <a:prstGeom prst="roundRect">
            <a:avLst>
              <a:gd name="adj" fmla="val 7576"/>
            </a:avLst>
          </a:prstGeom>
          <a:solidFill>
            <a:srgbClr val="E3F2FD"/>
          </a:solidFill>
          <a:ln w="12700">
            <a:solidFill>
              <a:srgbClr val="90B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3807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TPSTSalDT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80360" y="16367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รายการสินค้า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40280" y="2578608"/>
            <a:ext cx="640080" cy="-941832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2066544"/>
            <a:ext cx="1828800" cy="603504"/>
          </a:xfrm>
          <a:prstGeom prst="roundRect">
            <a:avLst>
              <a:gd name="adj" fmla="val 7576"/>
            </a:avLst>
          </a:prstGeom>
          <a:solidFill>
            <a:srgbClr val="E3F2FD"/>
          </a:solidFill>
          <a:ln w="12700">
            <a:solidFill>
              <a:srgbClr val="90B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1122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TPSTSalRC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0360" y="23682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การชำระเงิน + Tender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40280" y="2578608"/>
            <a:ext cx="640080" cy="-210312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2798064"/>
            <a:ext cx="1828800" cy="603504"/>
          </a:xfrm>
          <a:prstGeom prst="roundRect">
            <a:avLst>
              <a:gd name="adj" fmla="val 7576"/>
            </a:avLst>
          </a:prstGeom>
          <a:solidFill>
            <a:srgbClr val="E3F2FD"/>
          </a:solidFill>
          <a:ln w="12700">
            <a:solidFill>
              <a:srgbClr val="90B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28437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TPSTSalCD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80360" y="309981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บัตร/ส่วนลด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40280" y="2578608"/>
            <a:ext cx="640080" cy="521208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80360" y="3529584"/>
            <a:ext cx="1828800" cy="603504"/>
          </a:xfrm>
          <a:prstGeom prst="roundRect">
            <a:avLst>
              <a:gd name="adj" fmla="val 7576"/>
            </a:avLst>
          </a:prstGeom>
          <a:solidFill>
            <a:srgbClr val="E3F2FD"/>
          </a:solidFill>
          <a:ln w="12700">
            <a:solidFill>
              <a:srgbClr val="90B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80360" y="35753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TPSTSalePoint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80360" y="38313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คะแนนต่อบิล (FTRemark)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40280" y="2578608"/>
            <a:ext cx="640080" cy="1252728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21284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8909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: 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0720" y="1481328"/>
            <a:ext cx="1737360" cy="841248"/>
          </a:xfrm>
          <a:prstGeom prst="roundRect">
            <a:avLst>
              <a:gd name="adj" fmla="val 6522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76072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TCNMMallCard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1828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BD9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บัตรสมาชิก (Member DB)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BD9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FCEarned / FCBalance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760720" y="2615184"/>
            <a:ext cx="1737360" cy="603504"/>
          </a:xfrm>
          <a:prstGeom prst="roundRect">
            <a:avLst>
              <a:gd name="adj" fmla="val 7576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66090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TPSTBPHis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0720" y="291693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ประวัติคะแนน (1 : N)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29400" y="2322576"/>
            <a:ext cx="0" cy="292608"/>
          </a:xfrm>
          <a:prstGeom prst="line">
            <a:avLst/>
          </a:prstGeom>
          <a:noFill/>
          <a:ln w="25400">
            <a:solidFill>
              <a:srgbClr val="6A1B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3831336"/>
            <a:ext cx="91440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23560" y="1901952"/>
            <a:ext cx="0" cy="1929384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23560" y="1901952"/>
            <a:ext cx="13716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354787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Lookup (Token MemID)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726680" y="1481328"/>
            <a:ext cx="1234440" cy="1737360"/>
          </a:xfrm>
          <a:prstGeom prst="roundRect">
            <a:avLst>
              <a:gd name="adj" fmla="val 4444"/>
            </a:avLst>
          </a:prstGeom>
          <a:solidFill>
            <a:srgbClr val="FFF3E0"/>
          </a:solidFill>
          <a:ln w="12700">
            <a:solidFill>
              <a:srgbClr val="E8B57E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726680" y="157276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TPSTTokenLst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726680" y="21031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Mapping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Value ↔ Token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(Central + Member)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502920" y="4370832"/>
            <a:ext cx="8458200" cy="566928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443984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ตระกูลอื่นที่ใช้โครงสร้างเดียวกัน:  </a:t>
            </a:r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TPSTDepositHD/DT/RC/CD • TPSTHoldHD/DT/CD • TPSTVoucherHD/RC • TPSTCV • TPSHD/DT/RC/CD+TmnNum   |   Config: TSysSync • TSysConfig • TCNMStorePara • TCNMTerminalMtn • AdaIni.Ada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502920" y="1371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47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กลุ่มธุรกรรมการขาย (Local → Central)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760720" y="1170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กลุ่มสมาชิกและ Token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03 — OTMFORM_TIMER( 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ขั้นตอนการซิงค์หลัก — ทำงานทุก 500 ms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1261872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5296" y="1280160"/>
            <a:ext cx="52852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Pre-check  </a:t>
            </a:r>
            <a:pPr indent="0" marL="0">
              <a:buNone/>
            </a:pPr>
            <a:r>
              <a:rPr lang="en-US" sz="93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 Timer กันซ้อน • ตรวจ Registry SentSale / Online • ตรวจ Log File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" y="1719072"/>
            <a:ext cx="292608" cy="128016"/>
          </a:xfrm>
          <a:prstGeom prst="downArrow">
            <a:avLst/>
          </a:prstGeom>
          <a:solidFill>
            <a:srgbClr val="B9C6D2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8470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97280" y="1847088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1865376"/>
            <a:ext cx="52852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Connect &amp; Validate  </a:t>
            </a:r>
            <a:pPr indent="0" marL="0">
              <a:buNone/>
            </a:pPr>
            <a:r>
              <a:rPr lang="en-US" sz="93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W_DATbConnectOrChk (Online + Local) • W_GETbStoreOpen — ร้านปิด = ข้ามรอบ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" y="2304288"/>
            <a:ext cx="292608" cy="128016"/>
          </a:xfrm>
          <a:prstGeom prst="downArrow">
            <a:avLst/>
          </a:prstGeom>
          <a:solidFill>
            <a:srgbClr val="B9C6D2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4323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32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97280" y="2432304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2450592"/>
            <a:ext cx="52852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Configuration  </a:t>
            </a:r>
            <a:pPr indent="0" marL="0">
              <a:buNone/>
            </a:pPr>
            <a:r>
              <a:rPr lang="en-US" sz="93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อ่านรายการตารางจาก TSysSync • Terminal Number • Operation Date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" y="2889504"/>
            <a:ext cx="292608" cy="128016"/>
          </a:xfrm>
          <a:prstGeom prst="downArrow">
            <a:avLst/>
          </a:prstGeom>
          <a:solidFill>
            <a:srgbClr val="B9C6D2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017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97280" y="3017520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25296" y="3035808"/>
            <a:ext cx="52852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Sync Loop  </a:t>
            </a:r>
            <a:pPr indent="0" marL="0">
              <a:buNone/>
            </a:pPr>
            <a:r>
              <a:rPr lang="en-US" sz="93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ทุกตาราง × ทุกเรคอร์ดที่ Flag '0' → INSERT (Token ก่อน) • ซ้ำ → UPDATE • สำเร็จ → Flag '1'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" y="3474720"/>
            <a:ext cx="292608" cy="128016"/>
          </a:xfrm>
          <a:prstGeom prst="downArrow">
            <a:avLst/>
          </a:prstGeom>
          <a:solidFill>
            <a:srgbClr val="B9C6D2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360273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97280" y="3602736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25296" y="3621024"/>
            <a:ext cx="52852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Member Points  </a:t>
            </a:r>
            <a:pPr indent="0" marL="0">
              <a:buNone/>
            </a:pPr>
            <a:r>
              <a:rPr lang="en-US" sz="93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W_UPDxUpdatePoint → SUM คะแนน → UPDATE/INSERT TCNMMallCard + ประวัติ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5216" y="4059936"/>
            <a:ext cx="292608" cy="128016"/>
          </a:xfrm>
          <a:prstGeom prst="downArrow">
            <a:avLst/>
          </a:prstGeom>
          <a:solidFill>
            <a:srgbClr val="B9C6D2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41879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97280" y="4187952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25296" y="4206240"/>
            <a:ext cx="52852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Cleanup  </a:t>
            </a:r>
            <a:pPr indent="0" marL="0">
              <a:buNone/>
            </a:pPr>
            <a:r>
              <a:rPr lang="en-US" sz="93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 Registry (Date/Time/StaOn) • Log 'End :' • เปิด Timer รอบถัดไป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12280" y="1261872"/>
            <a:ext cx="2148840" cy="3456432"/>
          </a:xfrm>
          <a:prstGeom prst="roundRect">
            <a:avLst>
              <a:gd name="adj" fmla="val 2553"/>
            </a:avLst>
          </a:prstGeom>
          <a:solidFill>
            <a:srgbClr val="FFEBEE"/>
          </a:solidFill>
          <a:ln w="12700">
            <a:solidFill>
              <a:srgbClr val="E5A3A3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12280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Error → Strategy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931152" y="17190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-2147217873
</a:t>
            </a:r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Duplicate → ลอง UPDATE แทน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31152" y="22219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-2147467259
</a:t>
            </a:r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Connection Lost → จบรอบ รอรอบหน้า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31152" y="272491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-2147217871
</a:t>
            </a:r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Timeout → DBCC DBREINDEX แล้ว Retry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31152" y="322783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555
</a:t>
            </a:r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ลูกยังไม่ครบ → ยังไม่ส่ง HD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31152" y="373075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556
</a:t>
            </a:r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HD หายจาก Server → Reset ทั้งชุดเป็น '0'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31152" y="42336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557
</a:t>
            </a:r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 ล้มเหลว → ข้าม + Reset Flag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03 — DATA PROTECTION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ขั้นตอนการ Tokenize ข้อมูลบัตร (SP_PRCbToken)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78909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34416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129844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Guard Clauses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2011680" y="1298448"/>
            <a:ext cx="4160520" cy="566928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9696" y="132588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 ปิด (Code 29 = N) หรือสั้นกว่า 7 / 14 ตัวอักษร → คืนค่าเดิม ไม่ Token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1042416" y="1865376"/>
            <a:ext cx="292608" cy="146304"/>
          </a:xfrm>
          <a:prstGeom prst="downArrow">
            <a:avLst/>
          </a:prstGeom>
          <a:solidFill>
            <a:srgbClr val="B9C6D2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2011680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05740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" y="2011680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 Token เดิม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2011680" y="2011680"/>
            <a:ext cx="4160520" cy="566928"/>
          </a:xfrm>
          <a:prstGeom prst="roundRect">
            <a:avLst>
              <a:gd name="adj" fmla="val 8065"/>
            </a:avLst>
          </a:prstGeom>
          <a:solidFill>
            <a:srgbClr val="E3F2FD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39696" y="203911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SELECT TOP 1 FROM TPSTTokenLst WHERE FTValue = CardNo (ล่าสุดก่อน) — พบ → ใช้เลย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1042416" y="2578608"/>
            <a:ext cx="292608" cy="146304"/>
          </a:xfrm>
          <a:prstGeom prst="downArrow">
            <a:avLst/>
          </a:prstGeom>
          <a:solidFill>
            <a:srgbClr val="B9C6D2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2724912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77063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6112" y="2724912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เรียก SafeNet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2011680" y="2724912"/>
            <a:ext cx="4160520" cy="566928"/>
          </a:xfrm>
          <a:prstGeom prst="roundRect">
            <a:avLst>
              <a:gd name="adj" fmla="val 8065"/>
            </a:avLst>
          </a:prstGeom>
          <a:solidFill>
            <a:srgbClr val="FFF3E0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39696" y="2752344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SP_CHKbWebservice สร้าง SOAP Client ใหม่ → InsertToken(NAE/DB Credentials, CardNo, FIRST_SIX_TOKEN, Luhn=0)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1042416" y="3291840"/>
            <a:ext cx="292608" cy="146304"/>
          </a:xfrm>
          <a:prstGeom prst="downArrow">
            <a:avLst/>
          </a:prstGeom>
          <a:solidFill>
            <a:srgbClr val="B9C6D2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3438144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348386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6112" y="3438144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 Mapping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011680" y="3438144"/>
            <a:ext cx="4160520" cy="566928"/>
          </a:xfrm>
          <a:prstGeom prst="roundRect">
            <a:avLst>
              <a:gd name="adj" fmla="val 8065"/>
            </a:avLst>
          </a:prstGeom>
          <a:solidFill>
            <a:srgbClr val="E8F5E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39696" y="3465576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TPSTTokenLst: ระบุ Table/Field ต้นทาง + ธุรกรรมอ้างอิง — มีเดิม → UPDATE Token ใหม่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400800" y="1298448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0" y="14081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FIRST_SIX_TOKEN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10528" y="175564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E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4111 11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98080" y="17556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 XXXX XXXX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92240" y="210312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CFE0F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คงเลข 6 หลักแรกไว้  •  หลักที่เหลือถูกแทนด้วย Token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CFE0F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LuhnCheck = 0 (ไม่ตรวจสอบ)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400800" y="2834640"/>
            <a:ext cx="2560320" cy="1225296"/>
          </a:xfrm>
          <a:prstGeom prst="roundRect">
            <a:avLst>
              <a:gd name="adj" fmla="val 4478"/>
            </a:avLst>
          </a:prstGeom>
          <a:solidFill>
            <a:srgbClr val="FFEBEE"/>
          </a:solidFill>
          <a:ln w="12700">
            <a:solidFill>
              <a:srgbClr val="E5A3A3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0" y="29260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 Token ล้มเหลว (Error 557)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3200400"/>
            <a:ext cx="2377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 INSERT เรคอร์ดขึ้น Server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 Log 'InsertToken not success'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ถ้าเป็นตาราง HD → Reset ลูกทั้งหมดเป็น '0'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502920" y="4224528"/>
            <a:ext cx="8458200" cy="566928"/>
          </a:xfrm>
          <a:prstGeom prst="roundRect">
            <a:avLst>
              <a:gd name="adj" fmla="val 8065"/>
            </a:avLst>
          </a:prstGeom>
          <a:solidFill>
            <a:srgbClr val="FFF3E0"/>
          </a:solidFill>
          <a:ln w="12700">
            <a:solidFill>
              <a:srgbClr val="E8B57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29768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De-Tokenize:  </a:t>
            </a:r>
            <a:pPr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SP_PRCbDeToken ทำงานกลับทิศ — ค้น TPSTTokenLst ด้วย Token ก่อน ไม่พบจึงเรียก GetValue( ) ผ่าน Web Service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03 — DATA PROTECTION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เงื่อนไขการ Token ตามตาราง × ฟิลด์ × ประเภทธุรกรรม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920240"/>
                <a:gridCol w="2560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ตาราง (Table)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ฟิลด์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เงื่อนไขการ Token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Tender / Discount ที่เข้าข่าย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TPSTSalHD • TPSTDepositHD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FTCstCardCode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E651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Token เสมอ (ALWAYS)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ทุกกรณี — รหัสบัตรลูกค้าบนหัวบิล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TPSTSalRC • TPSTDepositRC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FTSrcCardNo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เฉพาะ Tender ที่กำหนด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T002 บัตรเครดิต • T003 ผ่อนชำระ • T017 บัตร TC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TPSTSalCD • TPSTDepositCD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FTScdCardID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เฉพาะ Discount Type ที่กำหนด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FNDctNo = 11 • 12 • 15 • 28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TPSTSalePoint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FTSpoMemID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E651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Token เสมอ (ALWAYS)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รหัสสมาชิกทุกกรณี (รวมตอนส่ง Member DB)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703320"/>
            <a:ext cx="8138160" cy="100584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3822192"/>
            <a:ext cx="7772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TransType ที่ได้รับการยกเว้น (ไม่ Token):  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01, 02, 05, 08, 09, 12, 14, 17, 18, 21, 24, 26–37, 40–50</a:t>
            </a:r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กลุ่มธุรกรรมระบบ (Open/Close/PickUp/IPV ฯลฯ) ที่ไม่มีข้อมูลบัตรจริง  •  TransType พิเศษ 07, 16, 19, 20 Token เฉพาะบางฟิลด์ตามเงื่อนไขในโค้ด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03 — MEMBER REWARDS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การประมวลผลคะแนนสมาชิก (W_UPDxUpdatePoint)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2651760" cy="804672"/>
          </a:xfrm>
          <a:prstGeom prst="roundRect">
            <a:avLst>
              <a:gd name="adj" fmla="val 5682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8132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6A1B9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81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6424" y="1389888"/>
            <a:ext cx="1975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ดึงธุรกรรมค้าง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06424" y="1700784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FTRemark='0' AND MemID &lt;&gt; ''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3154680" y="1554480"/>
            <a:ext cx="201168" cy="292608"/>
          </a:xfrm>
          <a:prstGeom prst="rightArrow">
            <a:avLst/>
          </a:prstGeom>
          <a:solidFill>
            <a:srgbClr val="C9A6DD"/>
          </a:solidFill>
          <a:ln/>
        </p:spPr>
      </p:sp>
      <p:sp>
        <p:nvSpPr>
          <p:cNvPr id="11" name="Shape 9"/>
          <p:cNvSpPr/>
          <p:nvPr/>
        </p:nvSpPr>
        <p:spPr>
          <a:xfrm>
            <a:off x="3355848" y="1298448"/>
            <a:ext cx="2651760" cy="804672"/>
          </a:xfrm>
          <a:prstGeom prst="roundRect">
            <a:avLst>
              <a:gd name="adj" fmla="val 5682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7288" y="148132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6A1B9A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481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59352" y="1389888"/>
            <a:ext cx="1975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รวมคะแนน/สมาชิก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59352" y="1700784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SUM(FCSpoPoint) GROUP BY MemID, ExpDate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6007608" y="1554480"/>
            <a:ext cx="201168" cy="292608"/>
          </a:xfrm>
          <a:prstGeom prst="rightArrow">
            <a:avLst/>
          </a:prstGeom>
          <a:solidFill>
            <a:srgbClr val="C9A6DD"/>
          </a:solidFill>
          <a:ln/>
        </p:spPr>
      </p:sp>
      <p:sp>
        <p:nvSpPr>
          <p:cNvPr id="17" name="Shape 15"/>
          <p:cNvSpPr/>
          <p:nvPr/>
        </p:nvSpPr>
        <p:spPr>
          <a:xfrm>
            <a:off x="6208776" y="1298448"/>
            <a:ext cx="2651760" cy="804672"/>
          </a:xfrm>
          <a:prstGeom prst="roundRect">
            <a:avLst>
              <a:gd name="adj" fmla="val 5682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0216" y="148132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6A1B9A"/>
          </a:solidFill>
          <a:ln/>
        </p:spPr>
      </p:sp>
      <p:sp>
        <p:nvSpPr>
          <p:cNvPr id="19" name="Text 17"/>
          <p:cNvSpPr/>
          <p:nvPr/>
        </p:nvSpPr>
        <p:spPr>
          <a:xfrm>
            <a:off x="6300216" y="1481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12280" y="1389888"/>
            <a:ext cx="1975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 รหัสสมาชิก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1700784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SP_PRCbToken + Mapping ลง Member DB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502920" y="2267712"/>
            <a:ext cx="2651760" cy="804672"/>
          </a:xfrm>
          <a:prstGeom prst="roundRect">
            <a:avLst>
              <a:gd name="adj" fmla="val 5682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245059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6A1B9A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4505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06424" y="2359152"/>
            <a:ext cx="1975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เครื่องหมาย +/−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06424" y="2670048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ขาย = บวก • คืน/ยกเลิก/Redeem = ลบ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3154680" y="2523744"/>
            <a:ext cx="201168" cy="292608"/>
          </a:xfrm>
          <a:prstGeom prst="rightArrow">
            <a:avLst/>
          </a:prstGeom>
          <a:solidFill>
            <a:srgbClr val="C9A6DD"/>
          </a:solidFill>
          <a:ln/>
        </p:spPr>
      </p:sp>
      <p:sp>
        <p:nvSpPr>
          <p:cNvPr id="28" name="Shape 26"/>
          <p:cNvSpPr/>
          <p:nvPr/>
        </p:nvSpPr>
        <p:spPr>
          <a:xfrm>
            <a:off x="3355848" y="2267712"/>
            <a:ext cx="2651760" cy="804672"/>
          </a:xfrm>
          <a:prstGeom prst="roundRect">
            <a:avLst>
              <a:gd name="adj" fmla="val 5682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47288" y="245059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6A1B9A"/>
          </a:solidFill>
          <a:ln/>
        </p:spPr>
      </p:sp>
      <p:sp>
        <p:nvSpPr>
          <p:cNvPr id="30" name="Text 28"/>
          <p:cNvSpPr/>
          <p:nvPr/>
        </p:nvSpPr>
        <p:spPr>
          <a:xfrm>
            <a:off x="3447288" y="24505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959352" y="2359152"/>
            <a:ext cx="1975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UPDATE / INSERT บัตร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59352" y="2670048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พบ → บวกคะแนน • ไม่พบ → 'New Member'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6007608" y="2523744"/>
            <a:ext cx="201168" cy="292608"/>
          </a:xfrm>
          <a:prstGeom prst="rightArrow">
            <a:avLst/>
          </a:prstGeom>
          <a:solidFill>
            <a:srgbClr val="C9A6DD"/>
          </a:solidFill>
          <a:ln/>
        </p:spPr>
      </p:sp>
      <p:sp>
        <p:nvSpPr>
          <p:cNvPr id="34" name="Shape 32"/>
          <p:cNvSpPr/>
          <p:nvPr/>
        </p:nvSpPr>
        <p:spPr>
          <a:xfrm>
            <a:off x="6208776" y="2267712"/>
            <a:ext cx="2651760" cy="804672"/>
          </a:xfrm>
          <a:prstGeom prst="roundRect">
            <a:avLst>
              <a:gd name="adj" fmla="val 5682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0216" y="245059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6A1B9A"/>
          </a:solidFill>
          <a:ln/>
        </p:spPr>
      </p:sp>
      <p:sp>
        <p:nvSpPr>
          <p:cNvPr id="36" name="Text 34"/>
          <p:cNvSpPr/>
          <p:nvPr/>
        </p:nvSpPr>
        <p:spPr>
          <a:xfrm>
            <a:off x="6300216" y="24505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812280" y="2359152"/>
            <a:ext cx="1975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ประวัติ + ปิดงาน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12280" y="2670048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INSERT TPSTBPHis → FTRemark='1'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502920" y="3401568"/>
            <a:ext cx="4023360" cy="1335024"/>
          </a:xfrm>
          <a:prstGeom prst="roundRect">
            <a:avLst>
              <a:gd name="adj" fmla="val 4110"/>
            </a:avLst>
          </a:prstGeom>
          <a:solidFill>
            <a:srgbClr val="E8F5E9"/>
          </a:solidFill>
          <a:ln w="12700">
            <a:solidFill>
              <a:srgbClr val="9CCD9F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0080" y="34930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พบสมาชิกเดิม → UPDATE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" y="3785616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FCEarned  = FCEarned + point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FCBalance = FCMcdTotalPoint + FCEarned + point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FTWhoUpd  = 'ServiceTranfer'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3401568"/>
            <a:ext cx="4023360" cy="1335024"/>
          </a:xfrm>
          <a:prstGeom prst="roundRect">
            <a:avLst>
              <a:gd name="adj" fmla="val 4110"/>
            </a:avLst>
          </a:prstGeom>
          <a:solidFill>
            <a:srgbClr val="E3F2FD"/>
          </a:solidFill>
          <a:ln w="12700">
            <a:solidFill>
              <a:srgbClr val="90B8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46320" y="34930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ไม่พบ → INSERT 'New Member'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3785616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FTMcdStaAct = 'A'  •  FCEarned = FCBalance = point</a:t>
            </a:r>
            <a:endParaRPr lang="en-US" sz="93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FDMcdExpDate = วันสุดท้ายของเดือน (จาก YYMM)</a:t>
            </a:r>
            <a:endParaRPr lang="en-US" sz="93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Error ระหว่างทาง → Resume Next (ข้ามรายการ)</a:t>
            </a:r>
            <a:endParaRPr lang="en-US" sz="930" dirty="0"/>
          </a:p>
        </p:txBody>
      </p:sp>
      <p:sp>
        <p:nvSpPr>
          <p:cNvPr id="45" name="Text 43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04 — RESILIENCE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การจัดการข้อผิดพลาดและการฟื้นตัว (Error Handling)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813816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926080"/>
                <a:gridCol w="38862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Error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สาเหตุ (Cause)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กลยุทธ์ของระบบ (Strategy)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-2147217873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Duplicate Key — เรคอร์ดมีอยู่แล้วบน Server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เปลี่ยนเป็น UPDATE (W_DATbUpdateData) — ถือว่ารายการสำเร็จ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-2147467259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Connection Lost / Provider Error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ยุติรอบปัจจุบันทันที → เริ่มใหม่รอบหน้า (500 ms ถัดไป)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-2147217871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Command Timeout ฝั่ง Local DB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DBCC DBREINDEX (Fill 90) → SELECT WITH(NOLOCK) ปลดล็อก → Retry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91 / 3704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Connection Object เสีย / ถูกปิด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Set Nothing แล้วสร้าง Connection ใหม่ใน W_DATbConnectOrChk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E651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555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ลูกของ HD ยังซิงค์ไม่ครบ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ยังไม่ส่ง HD — รอให้ DT/RC/CD/SalePoint เป็น '1' ครบก่อน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E651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556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INSERT HD แล้วตรวจไม่พบบน Server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Reset ทั้งชุด (HD + ลูกทั้งหมด) เป็น '0' เพื่อซิงค์ใหม่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E651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557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Tokenize ไม่สำเร็จ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ข้ามเรคอร์ด + Log — HD จะ Reset ลูกเป็น '0' ด้วย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590288"/>
            <a:ext cx="8138160" cy="384048"/>
          </a:xfrm>
          <a:prstGeom prst="roundRect">
            <a:avLst>
              <a:gd name="adj" fmla="val 11905"/>
            </a:avLst>
          </a:prstGeom>
          <a:solidFill>
            <a:srgbClr val="E8F5E9"/>
          </a:solidFill>
          <a:ln w="12700">
            <a:solidFill>
              <a:srgbClr val="9CCD9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626864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หลักการ:  </a:t>
            </a:r>
            <a:pPr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ความผิดพลาดหนึ่งรายการต้องไม่หยุดทั้งระบบ — ข้าม / Retry / รอรอบถัดไป และบันทึก Log ทุกกรณี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05 — WHY REVAMP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ข้อจำกัดและความเสี่ยงของระบบเดิม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2670048" cy="3383280"/>
          </a:xfrm>
          <a:prstGeom prst="roundRect">
            <a:avLst>
              <a:gd name="adj" fmla="val 2055"/>
            </a:avLst>
          </a:prstGeom>
          <a:solidFill>
            <a:srgbClr val="FFEBEE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" y="1426464"/>
            <a:ext cx="2450592" cy="384048"/>
          </a:xfrm>
          <a:prstGeom prst="roundRect">
            <a:avLst>
              <a:gd name="adj" fmla="val 16667"/>
            </a:avLst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426464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 (Architecture)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020824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Polling 500 ms — เปลือง CPU/IO แม้ไม่มีงาน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685800" y="2679192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905256" y="2615184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 DB ตรงข้าม WAN — ไม่มี API Layer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685800" y="3337560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" y="3273552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 Database Transaction — เสี่ยงข้อมูลไม่ครบชุด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85800" y="3995928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" y="3931920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Single-threaded — ซิงค์ทีละเรคอร์ด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3355848" y="1298448"/>
            <a:ext cx="2670048" cy="3383280"/>
          </a:xfrm>
          <a:prstGeom prst="roundRect">
            <a:avLst>
              <a:gd name="adj" fmla="val 2055"/>
            </a:avLst>
          </a:prstGeom>
          <a:solidFill>
            <a:srgbClr val="FFF3E0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65576" y="1426464"/>
            <a:ext cx="2450592" cy="384048"/>
          </a:xfrm>
          <a:prstGeom prst="roundRect">
            <a:avLst>
              <a:gd name="adj" fmla="val 16667"/>
            </a:avLst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3465576" y="1426464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ความปลอดภัย (Security)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538728" y="2020824"/>
            <a:ext cx="128016" cy="128016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0" name="Text 18"/>
          <p:cNvSpPr/>
          <p:nvPr/>
        </p:nvSpPr>
        <p:spPr>
          <a:xfrm>
            <a:off x="3758184" y="1956816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SQL ต่อสตริง — ช่องโหว่ SQL Injection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3538728" y="2679192"/>
            <a:ext cx="128016" cy="128016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3758184" y="2615184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รหัสผ่าน DB กึ่ง Plain Text (AdaIni.Ada)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3538728" y="3337560"/>
            <a:ext cx="128016" cy="128016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4" name="Text 22"/>
          <p:cNvSpPr/>
          <p:nvPr/>
        </p:nvSpPr>
        <p:spPr>
          <a:xfrm>
            <a:off x="3758184" y="3273552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 TLS/SSL ระหว่างทาง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3538728" y="3995928"/>
            <a:ext cx="128016" cy="128016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6" name="Text 24"/>
          <p:cNvSpPr/>
          <p:nvPr/>
        </p:nvSpPr>
        <p:spPr>
          <a:xfrm>
            <a:off x="3758184" y="3931920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 Credential เก็บเปิดเผยใน TSysConfig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6208776" y="1298448"/>
            <a:ext cx="2670048" cy="3383280"/>
          </a:xfrm>
          <a:prstGeom prst="roundRect">
            <a:avLst>
              <a:gd name="adj" fmla="val 2055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18504" y="1426464"/>
            <a:ext cx="2450592" cy="384048"/>
          </a:xfrm>
          <a:prstGeom prst="roundRect">
            <a:avLst>
              <a:gd name="adj" fmla="val 16667"/>
            </a:avLst>
          </a:prstGeom>
          <a:solidFill>
            <a:srgbClr val="78909C"/>
          </a:solidFill>
          <a:ln/>
        </p:spPr>
      </p:sp>
      <p:sp>
        <p:nvSpPr>
          <p:cNvPr id="29" name="Text 27"/>
          <p:cNvSpPr/>
          <p:nvPr/>
        </p:nvSpPr>
        <p:spPr>
          <a:xfrm>
            <a:off x="6318504" y="1426464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การดูแลรักษา (Maintainability)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91656" y="2020824"/>
            <a:ext cx="128016" cy="128016"/>
          </a:xfrm>
          <a:prstGeom prst="ellipse">
            <a:avLst/>
          </a:prstGeom>
          <a:solidFill>
            <a:srgbClr val="78909C"/>
          </a:solidFill>
          <a:ln/>
        </p:spPr>
      </p:sp>
      <p:sp>
        <p:nvSpPr>
          <p:cNvPr id="31" name="Text 29"/>
          <p:cNvSpPr/>
          <p:nvPr/>
        </p:nvSpPr>
        <p:spPr>
          <a:xfrm>
            <a:off x="6611112" y="1956816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VB6 หมดการสนับสนุน — หา Dev ยาก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6391656" y="2679192"/>
            <a:ext cx="128016" cy="128016"/>
          </a:xfrm>
          <a:prstGeom prst="ellipse">
            <a:avLst/>
          </a:prstGeom>
          <a:solidFill>
            <a:srgbClr val="78909C"/>
          </a:solidFill>
          <a:ln/>
        </p:spPr>
      </p:sp>
      <p:sp>
        <p:nvSpPr>
          <p:cNvPr id="33" name="Text 31"/>
          <p:cNvSpPr/>
          <p:nvPr/>
        </p:nvSpPr>
        <p:spPr>
          <a:xfrm>
            <a:off x="6611112" y="2615184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 Unit Test / CI-CD — Build มือเท่านั้น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6391656" y="3337560"/>
            <a:ext cx="128016" cy="128016"/>
          </a:xfrm>
          <a:prstGeom prst="ellipse">
            <a:avLst/>
          </a:prstGeom>
          <a:solidFill>
            <a:srgbClr val="78909C"/>
          </a:solidFill>
          <a:ln/>
        </p:spPr>
      </p:sp>
      <p:sp>
        <p:nvSpPr>
          <p:cNvPr id="35" name="Text 33"/>
          <p:cNvSpPr/>
          <p:nvPr/>
        </p:nvSpPr>
        <p:spPr>
          <a:xfrm>
            <a:off x="6611112" y="3273552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Dead Code (Module1–3) ปนในโปรเจกต์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6391656" y="3995928"/>
            <a:ext cx="128016" cy="128016"/>
          </a:xfrm>
          <a:prstGeom prst="ellipse">
            <a:avLst/>
          </a:prstGeom>
          <a:solidFill>
            <a:srgbClr val="78909C"/>
          </a:solidFill>
          <a:ln/>
        </p:spPr>
      </p:sp>
      <p:sp>
        <p:nvSpPr>
          <p:cNvPr id="37" name="Text 35"/>
          <p:cNvSpPr/>
          <p:nvPr/>
        </p:nvSpPr>
        <p:spPr>
          <a:xfrm>
            <a:off x="6611112" y="3931920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Log ไม่ถูกลบ (Cleanup ถูก Comment Out)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502920" y="4736592"/>
            <a:ext cx="8138160" cy="292608"/>
          </a:xfrm>
          <a:prstGeom prst="roundRect">
            <a:avLst>
              <a:gd name="adj" fmla="val 15625"/>
            </a:avLst>
          </a:prstGeom>
          <a:solidFill>
            <a:srgbClr val="FFEBEE"/>
          </a:solidFill>
          <a:ln w="12700">
            <a:solidFill>
              <a:srgbClr val="E5A3A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75488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ความเสี่ยงเหล่านี้พบจริงในซอร์สโค้ด — ไม่ใช่การคาดการณ์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06 — RECOMMENDATION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สถาปัตยกรรมเป้าหมายที่แนะนำ (Target Architecture)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E3F2FD"/>
          </a:solidFill>
          <a:ln w="12700">
            <a:solidFill>
              <a:srgbClr val="90B8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920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47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 Agent ใหม่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76072" y="2231136"/>
            <a:ext cx="16824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.NET Worker / Go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Event-driven (ไม่ Polling)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Offline Queue ในเครื่อง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2377440" y="2286000"/>
            <a:ext cx="502920" cy="292608"/>
          </a:xfrm>
          <a:prstGeom prst="rightArrow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201168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events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926080" y="182880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26080" y="19202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Message Queue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99232" y="2231136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RabbitMQ / Kafka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Retry + Dead-letter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ลำดับข้อความรับประกัน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4709160" y="2286000"/>
            <a:ext cx="502920" cy="292608"/>
          </a:xfrm>
          <a:prstGeom prst="rightArrow">
            <a:avLst/>
          </a:prstGeom>
          <a:solidFill>
            <a:srgbClr val="6A1B9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01168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consume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257800" y="182880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E8F5E9"/>
          </a:solidFill>
          <a:ln w="12700">
            <a:solidFill>
              <a:srgbClr val="9CCD9F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57800" y="19202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API Gateway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30952" y="2231136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REST / gRPC (TLS)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Validation + Transaction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Idempotency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7406640" y="1298448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6640" y="138988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Central DB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479792" y="1700784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BEGIN TRAN ครอบ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HD + Children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7406640" y="2286000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06640" y="23774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Member DB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79792" y="2688336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คะแนนผ่าน Service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ไม่เขียนตรง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7406640" y="3273552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FFF3E0"/>
          </a:solidFill>
          <a:ln w="12700">
            <a:solidFill>
              <a:srgbClr val="E8B57E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06640" y="33649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 Service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79792" y="3675888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HSM / Cloud KMS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แทน SOAP เดิม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7022592" y="1591056"/>
            <a:ext cx="365760" cy="292608"/>
          </a:xfrm>
          <a:prstGeom prst="rightArrow">
            <a:avLst/>
          </a:prstGeom>
          <a:solidFill>
            <a:srgbClr val="78909C"/>
          </a:solidFill>
          <a:ln/>
        </p:spPr>
      </p:sp>
      <p:sp>
        <p:nvSpPr>
          <p:cNvPr id="28" name="Shape 26"/>
          <p:cNvSpPr/>
          <p:nvPr/>
        </p:nvSpPr>
        <p:spPr>
          <a:xfrm>
            <a:off x="7022592" y="2578608"/>
            <a:ext cx="365760" cy="292608"/>
          </a:xfrm>
          <a:prstGeom prst="rightArrow">
            <a:avLst/>
          </a:prstGeom>
          <a:solidFill>
            <a:srgbClr val="78909C"/>
          </a:solidFill>
          <a:ln/>
        </p:spPr>
      </p:sp>
      <p:sp>
        <p:nvSpPr>
          <p:cNvPr id="29" name="Shape 27"/>
          <p:cNvSpPr/>
          <p:nvPr/>
        </p:nvSpPr>
        <p:spPr>
          <a:xfrm>
            <a:off x="7022592" y="3566160"/>
            <a:ext cx="365760" cy="292608"/>
          </a:xfrm>
          <a:prstGeom prst="rightArrow">
            <a:avLst/>
          </a:prstGeom>
          <a:solidFill>
            <a:srgbClr val="E651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3657600"/>
            <a:ext cx="6675120" cy="1097280"/>
          </a:xfrm>
          <a:prstGeom prst="roundRect">
            <a:avLst>
              <a:gd name="adj" fmla="val 4167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74904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หลักการออกแบบ (Design Principles)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402336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Secrets ใน Vault (ไม่อยู่ในไฟล์)  •  Parameterized Query ทั้งหมด  •  Structured Logging + Metrics + Health Check  •  Unit / Integration Tests ครอบ Business Rules  •  Deploy เป็น Container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06 —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ลำดับความสำคัญในการปรับปรุง (Prioritized Roadmap)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81381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411480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#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หัวข้อ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รายละเอียด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ความสำคัญ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เปลี่ยนเทคโนโลยี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.NET Worker Service / Go — รองรับ CI/CD และทีมปัจจุบัน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Critical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Event-driven + Queue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RabbitMQ / Kafka แทน Polling 500 ms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Critical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API Gateway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REST/gRPC แทนการต่อ DB ตรงข้าม WAN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Critical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Database Transaction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BEGIN TRAN ครอบ HD + Children — แทนกฎ 555/556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Critical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Parameterized SQL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ปิดช่องโหว่ SQL Injection ทั้งหมด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Critical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6–8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Security ชุดใหญ่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TLS ทุก Connection • Secrets Vault • Tokenization แบบ HSM/KMS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E651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High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9–12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Operations ชุดใหญ่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Observability • Automated Tests • Container • Config Service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2E7D3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Medium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572000"/>
            <a:ext cx="8138160" cy="402336"/>
          </a:xfrm>
          <a:prstGeom prst="roundRect">
            <a:avLst>
              <a:gd name="adj" fmla="val 11364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617720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แนวทางส่งมอบ:  </a:t>
            </a:r>
            <a:pPr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 Critical (1–5) ให้จบเป็น Phase 1 เพื่อทดแทนระบบเดิมได้อย่างปลอดภัย แล้วต่อยอด High/Medium ใน Phase 2–3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สรุปและก้าวต่อไป (Summary &amp; Next Steps)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4114800" cy="822960"/>
          </a:xfrm>
          <a:prstGeom prst="roundRect">
            <a:avLst>
              <a:gd name="adj" fmla="val 5556"/>
            </a:avLst>
          </a:prstGeom>
          <a:solidFill>
            <a:srgbClr val="E8F5E9"/>
          </a:solidFill>
          <a:ln w="12700">
            <a:solidFill>
              <a:srgbClr val="9CCD9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4533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45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417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เข้าใจระบบเดิมครบถ้วน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15568" y="170992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ตรรกะทุกฟังก์ชันถูกถอดเป็นเอกสาร 3 ฉบับ + แผนภาพ 5 ชุด — ทีมใหม่ไม่ต้องอ่าน VB6 เอง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4114800" cy="822960"/>
          </a:xfrm>
          <a:prstGeom prst="roundRect">
            <a:avLst>
              <a:gd name="adj" fmla="val 5556"/>
            </a:avLst>
          </a:prstGeom>
          <a:solidFill>
            <a:srgbClr val="E8F5E9"/>
          </a:solidFill>
          <a:ln w="12700">
            <a:solidFill>
              <a:srgbClr val="9CCD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5054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505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Business Rules ถูกเก็บรักษา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15568" y="267004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 555/556, เงื่อนไข Token, สูตรคะแนน FCEarned/FCBalance พร้อม Re-implement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02920" y="3246120"/>
            <a:ext cx="4114800" cy="822960"/>
          </a:xfrm>
          <a:prstGeom prst="roundRect">
            <a:avLst>
              <a:gd name="adj" fmla="val 5556"/>
            </a:avLst>
          </a:prstGeom>
          <a:solidFill>
            <a:srgbClr val="E8F5E9"/>
          </a:solidFill>
          <a:ln w="12700">
            <a:solidFill>
              <a:srgbClr val="9CCD9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4655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3337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ความเสี่ยงถูกระบุชัด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15568" y="363016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ครบทั้งสถาปัตยกรรม ความปลอดภัย และการดูแลรักษา — อ้างอิงจากโค้ดจริง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892040" y="13258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ขั้นตอนถัดไปที่แนะนำ (Next Steps)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92040" y="1719072"/>
            <a:ext cx="3749040" cy="585216"/>
          </a:xfrm>
          <a:prstGeom prst="roundRect">
            <a:avLst>
              <a:gd name="adj" fmla="val 7813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01768" y="1847088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3" name="Text 21"/>
          <p:cNvSpPr/>
          <p:nvPr/>
        </p:nvSpPr>
        <p:spPr>
          <a:xfrm>
            <a:off x="5001768" y="1847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31536" y="1755648"/>
            <a:ext cx="31272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Review เอกสารร่วมกับทีม Dev + DBA — ยืนยัน Business Rules กับผู้ใช้งานจริง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892040" y="2432304"/>
            <a:ext cx="3749040" cy="585216"/>
          </a:xfrm>
          <a:prstGeom prst="roundRect">
            <a:avLst>
              <a:gd name="adj" fmla="val 7813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01768" y="2560320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7" name="Text 25"/>
          <p:cNvSpPr/>
          <p:nvPr/>
        </p:nvSpPr>
        <p:spPr>
          <a:xfrm>
            <a:off x="5001768" y="25603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31536" y="2468880"/>
            <a:ext cx="31272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ตัดสินใจ Tech Stack (.NET / Go) และออกแบบ API Contract + Event Schema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4892040" y="3145536"/>
            <a:ext cx="3749040" cy="585216"/>
          </a:xfrm>
          <a:prstGeom prst="roundRect">
            <a:avLst>
              <a:gd name="adj" fmla="val 7813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01768" y="3273552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31" name="Text 29"/>
          <p:cNvSpPr/>
          <p:nvPr/>
        </p:nvSpPr>
        <p:spPr>
          <a:xfrm>
            <a:off x="5001768" y="3273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31536" y="3182112"/>
            <a:ext cx="31272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Proof of Concept: Sync 1 ตาราง (TPSTSalHD ครบชุด) ผ่านสถาปัตยกรรมใหม่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4892040" y="3858768"/>
            <a:ext cx="3749040" cy="585216"/>
          </a:xfrm>
          <a:prstGeom prst="roundRect">
            <a:avLst>
              <a:gd name="adj" fmla="val 7813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01768" y="3986784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35" name="Text 33"/>
          <p:cNvSpPr/>
          <p:nvPr/>
        </p:nvSpPr>
        <p:spPr>
          <a:xfrm>
            <a:off x="5001768" y="3986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31536" y="3895344"/>
            <a:ext cx="31272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วางแผน Migration แบบคู่ขนาน (Run ระบบเก่า-ใหม่เทียบผลก่อนตัดระบบ)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3657600" cy="3657600"/>
          </a:xfrm>
          <a:prstGeom prst="ellipse">
            <a:avLst/>
          </a:prstGeom>
          <a:solidFill>
            <a:srgbClr val="0B3E8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291840"/>
            <a:ext cx="3108960" cy="3108960"/>
          </a:xfrm>
          <a:prstGeom prst="ellipse">
            <a:avLst/>
          </a:prstGeom>
          <a:solidFill>
            <a:srgbClr val="1259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 &amp; 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E9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คำถามและข้อเสนอแนะ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9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เอกสารประกอบ:  01_SRS_Document.docx  •  02_Data_Dictionary.docx  •  03_Program_Specification.docx  •  Diagrams (HTML)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B4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ServiceTransfer v5.1810.1 — System Revamp Documentation  •  Reverse Engineering Analysis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ServiceTransfer — System Revamp</dc:title>
  <dc:subject>PptxGenJS Presentation</dc:subject>
  <dc:creator>System Revamp Team</dc:creator>
  <cp:lastModifiedBy>System Revamp Team</cp:lastModifiedBy>
  <cp:revision>1</cp:revision>
  <dcterms:created xsi:type="dcterms:W3CDTF">2026-06-12T16:40:59Z</dcterms:created>
  <dcterms:modified xsi:type="dcterms:W3CDTF">2026-06-12T16:40:59Z</dcterms:modified>
</cp:coreProperties>
</file>